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7" r:id="rId4"/>
    <p:sldId id="278" r:id="rId5"/>
    <p:sldId id="280" r:id="rId6"/>
    <p:sldId id="281" r:id="rId7"/>
    <p:sldId id="282" r:id="rId8"/>
    <p:sldId id="283" r:id="rId9"/>
    <p:sldId id="284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9925-0EA6-02DD-25CC-C2E68921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B7E8-71E8-4363-F399-9F39B347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9A6E-D967-2636-106F-A5314E0C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B7062-0E12-A5A2-34DB-32B1D0D1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EE58-0812-AFB9-8B25-0F1D3BA3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4BF2-A987-99B5-2698-3F76FABA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31C3-5259-4DBB-4CE0-28661CBA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B217-240D-82B9-9AF1-0660C9D0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312DA-0D6C-05E1-B85E-FEBE1A6F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7F7B-720E-B4FA-3BC7-3CE57923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E3A5-BBF7-2325-F4CE-6087E6C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FD1A-B2FF-50AD-6AB9-B3ABC614F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D20B-2B81-FAF0-C7CC-1876A8E2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C76A8-58E1-60CF-E935-D66EBF8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68F2-11CD-D04D-EC12-9893BD4E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3BFD-6808-B652-4C05-ACF2FA1E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AC45-D23B-03C0-308F-E74A84298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C5414-FDD3-C011-6380-8CF89CB0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31C0-C33D-B269-CE32-BD67BF1E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FEBF-61DF-B907-FBA7-114D9251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C76D-9485-B4ED-1BB1-16FB7760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646A-1C39-5217-C2A2-E76C8AE9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C663E-3B4B-125D-0D76-796F6F10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176B-E80F-96D3-383C-D4148820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181FE-10D9-35B0-B442-A11BF79FF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8CA4-E8BE-5E7C-BEB5-7A23B7F1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93B0F-BE15-0A32-645B-9D06B478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B8E6-A27A-C7EA-F407-359B027C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E21BA-963A-23EB-3227-79CADDF1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8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0AB0-E8A7-1EA8-E983-0E548A2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D5C97-577C-2C7B-B79B-B1E1928C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660D-07BA-6854-E5C3-A62F9DB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6ECB-0576-8D51-BED7-23BD01DF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AD0BB-C66D-CBE7-90AE-4E86702F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6B7D5-9CAC-2BB9-D364-45F9B84D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3F97-4767-ADE1-D2F2-879D35C9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5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1B0F-D169-E0F2-F04F-F8C5DC4F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805-17F9-AA02-41B1-6F08885D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A02C3-116C-A475-5677-3B259AC3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696A7-F849-5E6A-217D-716653DB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BCA1-5AC9-11E6-F9A7-31841F87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7BC-E0F0-7ECB-6971-263E3DA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31A-1024-415C-D9B5-FCDE4D6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5AB50-9A41-5189-CEDD-54DADDAFE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3D5F7-9038-F085-DDF0-9A8DF943B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03F9-DD77-5BD4-67D6-BC92F15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3562E-E2EF-178C-84B7-1A29BC52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3BBC-7AAA-2BAB-3350-88FA8650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E922-BE74-FC5B-6FE9-798BF440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09CA1-1364-4F9B-3C40-808CAC8C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C67A-62EE-5B47-4C90-FDB9137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9FC1-94CE-F9E0-072F-0175E5AA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561EA-8E48-6F1C-6750-934F2AB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08D5C-C0F6-D4A1-78D3-F78B15AC0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B132-704A-90E1-12A9-A6C660B16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7C39-3B44-F9C5-4566-BE621C8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47AF-1132-0627-51B8-3AAA187C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541D-D7CA-DEE2-C9F6-A8C2F89B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1BFDB-A5C7-FBEF-6726-A9CB9AD2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DCB-F7B8-1296-B130-E1A21585D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758A-E657-F11C-7C19-109A790C3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3DD7-2942-E5AE-C41E-BBAAD616A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0884-5E6F-4CC1-9478-9F15EEC6A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52B1-1347-21A0-4603-5CDDEF394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CS3700 Intro to Database &amp; Modelling– Week 1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00A91-7FC9-E396-71A3-4A57DD09A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Database Design Process</a:t>
            </a:r>
          </a:p>
          <a:p>
            <a:r>
              <a:rPr lang="en-US" dirty="0"/>
              <a:t>Bibek Raj Joshi</a:t>
            </a:r>
          </a:p>
          <a:p>
            <a:r>
              <a:rPr lang="en-US" dirty="0"/>
              <a:t>Fall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3D876-CD84-6E0D-1C36-9605C7831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65" y="4952299"/>
            <a:ext cx="3310135" cy="15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A8A5-7C8E-CDBC-28B3-A12D03BE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3A18-F072-DCB8-B834-334780294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Databases are models of the real world, </a:t>
            </a:r>
          </a:p>
          <a:p>
            <a:endParaRPr lang="en-US" dirty="0"/>
          </a:p>
          <a:p>
            <a:r>
              <a:rPr lang="en-US" dirty="0"/>
              <a:t>Therefore: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Design comes before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D5C7B-1116-FDC6-1C4F-2DD1939C2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4C94-9C8E-7743-E242-63A187E9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8E205-5870-71E6-F980-37E0B2CDC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Bad Design is Extremely expensive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0246-FE11-5FD3-0018-1D8595F94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Causes:</a:t>
            </a:r>
          </a:p>
          <a:p>
            <a:pPr lvl="1"/>
            <a:r>
              <a:rPr lang="en-US" dirty="0"/>
              <a:t>Data redundancy</a:t>
            </a:r>
          </a:p>
          <a:p>
            <a:pPr lvl="1"/>
            <a:r>
              <a:rPr lang="en-US" dirty="0"/>
              <a:t>Inconsistency</a:t>
            </a:r>
          </a:p>
          <a:p>
            <a:pPr lvl="1"/>
            <a:r>
              <a:rPr lang="en-US" dirty="0"/>
              <a:t>Update anomalies</a:t>
            </a:r>
          </a:p>
          <a:p>
            <a:pPr lvl="1"/>
            <a:r>
              <a:rPr lang="en-US" dirty="0"/>
              <a:t>Performance Problems</a:t>
            </a:r>
          </a:p>
          <a:p>
            <a:pPr lvl="1"/>
            <a:r>
              <a:rPr lang="en-US" dirty="0"/>
              <a:t>Impossible constraints</a:t>
            </a:r>
          </a:p>
          <a:p>
            <a:r>
              <a:rPr lang="en-US" dirty="0"/>
              <a:t>Once deployed:</a:t>
            </a:r>
          </a:p>
          <a:p>
            <a:pPr lvl="1"/>
            <a:r>
              <a:rPr lang="en-US" dirty="0"/>
              <a:t>Schema changes are expensive</a:t>
            </a:r>
          </a:p>
          <a:p>
            <a:pPr lvl="1"/>
            <a:r>
              <a:rPr lang="en-US" dirty="0"/>
              <a:t>Data migration is painful</a:t>
            </a:r>
          </a:p>
          <a:p>
            <a:pPr lvl="1"/>
            <a:r>
              <a:rPr lang="en-US" dirty="0"/>
              <a:t>Bugs become permanent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991A1-FF40-C42E-69D8-B5059FB3C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5C0C-D9A0-B980-AA4C-01C9A9B5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4BB8-DB8F-5D47-E373-E3C3901D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Life Cycle(High-level)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0FF5AA-6127-C7A0-DCBD-81FC0ED09A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878792"/>
              </p:ext>
            </p:extLst>
          </p:nvPr>
        </p:nvGraphicFramePr>
        <p:xfrm>
          <a:off x="2284791" y="2249335"/>
          <a:ext cx="645281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52810">
                  <a:extLst>
                    <a:ext uri="{9D8B030D-6E8A-4147-A177-3AD203B41FA5}">
                      <a16:colId xmlns:a16="http://schemas.microsoft.com/office/drawing/2014/main" val="543410647"/>
                    </a:ext>
                  </a:extLst>
                </a:gridCol>
              </a:tblGrid>
              <a:tr h="446844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Requirement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895571"/>
                  </a:ext>
                </a:extLst>
              </a:tr>
              <a:tr h="446844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Conceptual Design (ER Model)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519081"/>
                  </a:ext>
                </a:extLst>
              </a:tr>
              <a:tr h="446844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Logical Design (Relational Schema)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045388"/>
                  </a:ext>
                </a:extLst>
              </a:tr>
              <a:tr h="446844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Schema Refinement ( Normalization)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359276"/>
                  </a:ext>
                </a:extLst>
              </a:tr>
              <a:tr h="446844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Physical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278628"/>
                  </a:ext>
                </a:extLst>
              </a:tr>
              <a:tr h="446844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2081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DD01CB8-2019-5D21-D2CF-D088DBB3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A875B66F-8268-2618-27E9-DA4928E0ECEE}"/>
              </a:ext>
            </a:extLst>
          </p:cNvPr>
          <p:cNvSpPr/>
          <p:nvPr/>
        </p:nvSpPr>
        <p:spPr>
          <a:xfrm>
            <a:off x="9033933" y="2249335"/>
            <a:ext cx="347134" cy="2743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75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E7BA-4C02-C60B-61D1-F0FE44CB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32F0-8C61-A6CF-F29A-2FCF6481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Life Cycle(High-level)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D69A2-1A66-25BA-179D-C2A54DE5B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97D25-0592-7071-08E8-33DCECDB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Step 1 – Requirements Collection &amp; Analysis</a:t>
            </a:r>
          </a:p>
          <a:p>
            <a:pPr lvl="1"/>
            <a:r>
              <a:rPr lang="en-US" dirty="0"/>
              <a:t>The goal is to understand:</a:t>
            </a:r>
          </a:p>
          <a:p>
            <a:pPr lvl="2"/>
            <a:r>
              <a:rPr lang="en-US" dirty="0"/>
              <a:t>What data is needed?</a:t>
            </a:r>
          </a:p>
          <a:p>
            <a:pPr lvl="2"/>
            <a:r>
              <a:rPr lang="en-US" dirty="0"/>
              <a:t>What operations are needed?</a:t>
            </a:r>
          </a:p>
          <a:p>
            <a:pPr lvl="2"/>
            <a:r>
              <a:rPr lang="en-US" dirty="0"/>
              <a:t>What constraints exist?</a:t>
            </a:r>
          </a:p>
          <a:p>
            <a:pPr lvl="1"/>
            <a:r>
              <a:rPr lang="en-US" dirty="0"/>
              <a:t>Sources:</a:t>
            </a:r>
          </a:p>
          <a:p>
            <a:pPr lvl="2"/>
            <a:r>
              <a:rPr lang="en-US" dirty="0"/>
              <a:t>Stakeholders</a:t>
            </a:r>
          </a:p>
          <a:p>
            <a:pPr lvl="2"/>
            <a:r>
              <a:rPr lang="en-US" dirty="0"/>
              <a:t>Users</a:t>
            </a:r>
          </a:p>
          <a:p>
            <a:pPr lvl="2"/>
            <a:r>
              <a:rPr lang="en-US" dirty="0"/>
              <a:t>Domain experts</a:t>
            </a:r>
          </a:p>
          <a:p>
            <a:pPr lvl="2"/>
            <a:r>
              <a:rPr lang="en-US" dirty="0"/>
              <a:t>Existing forms/reports/workflows</a:t>
            </a:r>
          </a:p>
          <a:p>
            <a:pPr lvl="1"/>
            <a:r>
              <a:rPr lang="en-US" dirty="0"/>
              <a:t>Deliverable:</a:t>
            </a:r>
          </a:p>
          <a:p>
            <a:pPr lvl="2"/>
            <a:r>
              <a:rPr lang="en-US" dirty="0"/>
              <a:t>Requirements specification document</a:t>
            </a:r>
          </a:p>
        </p:txBody>
      </p:sp>
    </p:spTree>
    <p:extLst>
      <p:ext uri="{BB962C8B-B14F-4D97-AF65-F5344CB8AC3E}">
        <p14:creationId xmlns:p14="http://schemas.microsoft.com/office/powerpoint/2010/main" val="134167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1CF8-9E13-1077-A13F-62190589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93698-4369-2B7D-589A-7A86170B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Life Cycle(High-level)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934ABD-472B-107A-463F-1797A63D9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00857-46B5-C148-4BE5-A97FE49F9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2 - Conceptual Design(ER Modeling)</a:t>
            </a:r>
          </a:p>
          <a:p>
            <a:pPr lvl="1"/>
            <a:r>
              <a:rPr lang="en-US" dirty="0"/>
              <a:t>The goal is to create a high-level conceptual schema independent of DMBS, storage, Implementation</a:t>
            </a:r>
          </a:p>
          <a:p>
            <a:pPr lvl="1"/>
            <a:r>
              <a:rPr lang="en-US" dirty="0"/>
              <a:t>Tools:</a:t>
            </a:r>
          </a:p>
          <a:p>
            <a:pPr lvl="2"/>
            <a:r>
              <a:rPr lang="en-US" dirty="0"/>
              <a:t>ER Diagrams (</a:t>
            </a:r>
            <a:r>
              <a:rPr lang="en-US" i="1" dirty="0"/>
              <a:t>draw.io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UML (Maybe sometimes)</a:t>
            </a:r>
          </a:p>
        </p:txBody>
      </p:sp>
    </p:spTree>
    <p:extLst>
      <p:ext uri="{BB962C8B-B14F-4D97-AF65-F5344CB8AC3E}">
        <p14:creationId xmlns:p14="http://schemas.microsoft.com/office/powerpoint/2010/main" val="770803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64C6B-2050-10AA-5BB8-D5B09EDF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2514-56A5-6059-9080-9105857A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Life Cycle(High-level)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46F5F-18FB-5B43-2ACF-AC7CF72AE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B81E9-CC94-48F2-0089-47F2DFAC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 – Logical Design (Relational Models)</a:t>
            </a:r>
          </a:p>
          <a:p>
            <a:pPr lvl="1"/>
            <a:r>
              <a:rPr lang="en-US" dirty="0"/>
              <a:t>The goal is to convert ER model into tables</a:t>
            </a:r>
          </a:p>
          <a:p>
            <a:pPr lvl="1"/>
            <a:r>
              <a:rPr lang="en-US" dirty="0"/>
              <a:t>Decisions are made on:</a:t>
            </a:r>
          </a:p>
          <a:p>
            <a:pPr lvl="2"/>
            <a:r>
              <a:rPr lang="en-US" dirty="0"/>
              <a:t>The table structure</a:t>
            </a:r>
          </a:p>
          <a:p>
            <a:pPr lvl="2"/>
            <a:r>
              <a:rPr lang="en-US" dirty="0"/>
              <a:t>Other constraints </a:t>
            </a:r>
          </a:p>
          <a:p>
            <a:r>
              <a:rPr lang="en-US" dirty="0"/>
              <a:t>Step 4 – Schema Refinement (Normalization)</a:t>
            </a:r>
          </a:p>
          <a:p>
            <a:pPr lvl="1"/>
            <a:r>
              <a:rPr lang="en-US" dirty="0"/>
              <a:t>The goal is to remove redundancy, anomalies and inconsistencies</a:t>
            </a:r>
          </a:p>
        </p:txBody>
      </p:sp>
    </p:spTree>
    <p:extLst>
      <p:ext uri="{BB962C8B-B14F-4D97-AF65-F5344CB8AC3E}">
        <p14:creationId xmlns:p14="http://schemas.microsoft.com/office/powerpoint/2010/main" val="3817802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24B-FDD0-D6F5-9AB4-E423D387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639E-F69E-71CE-6FCD-A92BC50D4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Life Cycle(High-level)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C1EC7-F376-54A8-70B7-68307975E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6B57E-CEA0-91FA-ADB7-D9E5EF83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5 – Physical Design</a:t>
            </a:r>
          </a:p>
          <a:p>
            <a:pPr lvl="1"/>
            <a:r>
              <a:rPr lang="en-US" dirty="0"/>
              <a:t>The goal is to optimize for performance, storage and workload patterns. </a:t>
            </a:r>
          </a:p>
          <a:p>
            <a:r>
              <a:rPr lang="en-US" dirty="0"/>
              <a:t>Stage 6 – Implementation &amp; Data Loading</a:t>
            </a:r>
          </a:p>
          <a:p>
            <a:pPr lvl="1"/>
            <a:r>
              <a:rPr lang="en-US" dirty="0"/>
              <a:t>Tasks:</a:t>
            </a:r>
          </a:p>
          <a:p>
            <a:pPr lvl="2"/>
            <a:r>
              <a:rPr lang="en-US" dirty="0"/>
              <a:t>Create tables</a:t>
            </a:r>
          </a:p>
          <a:p>
            <a:pPr lvl="2"/>
            <a:r>
              <a:rPr lang="en-US" dirty="0"/>
              <a:t>Add constraints</a:t>
            </a:r>
          </a:p>
          <a:p>
            <a:pPr lvl="2"/>
            <a:r>
              <a:rPr lang="en-US" dirty="0"/>
              <a:t>Load data</a:t>
            </a:r>
          </a:p>
          <a:p>
            <a:pPr lvl="2"/>
            <a:r>
              <a:rPr lang="en-US" dirty="0"/>
              <a:t>Test queries</a:t>
            </a:r>
          </a:p>
          <a:p>
            <a:pPr lvl="2"/>
            <a:r>
              <a:rPr lang="en-US" dirty="0"/>
              <a:t>Test performance</a:t>
            </a:r>
          </a:p>
        </p:txBody>
      </p:sp>
    </p:spTree>
    <p:extLst>
      <p:ext uri="{BB962C8B-B14F-4D97-AF65-F5344CB8AC3E}">
        <p14:creationId xmlns:p14="http://schemas.microsoft.com/office/powerpoint/2010/main" val="32209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D881-E23E-9E0B-FE46-13D72573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C0E1-F846-A1E4-18CF-EA2E3BBF0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is iterative, not linear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95551A2-A1C9-8F7E-0894-619C125978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7389074"/>
              </p:ext>
            </p:extLst>
          </p:nvPr>
        </p:nvGraphicFramePr>
        <p:xfrm>
          <a:off x="2284791" y="2249335"/>
          <a:ext cx="645281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52810">
                  <a:extLst>
                    <a:ext uri="{9D8B030D-6E8A-4147-A177-3AD203B41FA5}">
                      <a16:colId xmlns:a16="http://schemas.microsoft.com/office/drawing/2014/main" val="543410647"/>
                    </a:ext>
                  </a:extLst>
                </a:gridCol>
              </a:tblGrid>
              <a:tr h="44778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895571"/>
                  </a:ext>
                </a:extLst>
              </a:tr>
              <a:tr h="44778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519081"/>
                  </a:ext>
                </a:extLst>
              </a:tr>
              <a:tr h="44778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045388"/>
                  </a:ext>
                </a:extLst>
              </a:tr>
              <a:tr h="44778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359276"/>
                  </a:ext>
                </a:extLst>
              </a:tr>
              <a:tr h="44778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Redesign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27862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0535F9F-17C8-F552-BFD1-E783BF3A4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77EB92-53A9-1FDD-75B3-783C8B096787}"/>
              </a:ext>
            </a:extLst>
          </p:cNvPr>
          <p:cNvCxnSpPr/>
          <p:nvPr/>
        </p:nvCxnSpPr>
        <p:spPr>
          <a:xfrm>
            <a:off x="8221133" y="2573867"/>
            <a:ext cx="0" cy="3725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97125C-624C-630F-A303-6DF7F1483492}"/>
              </a:ext>
            </a:extLst>
          </p:cNvPr>
          <p:cNvCxnSpPr/>
          <p:nvPr/>
        </p:nvCxnSpPr>
        <p:spPr>
          <a:xfrm>
            <a:off x="8466666" y="2946400"/>
            <a:ext cx="0" cy="3725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4D9E83-77AD-B60E-54F2-E96B00944522}"/>
              </a:ext>
            </a:extLst>
          </p:cNvPr>
          <p:cNvCxnSpPr/>
          <p:nvPr/>
        </p:nvCxnSpPr>
        <p:spPr>
          <a:xfrm>
            <a:off x="8221133" y="3429000"/>
            <a:ext cx="0" cy="3725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02B936-69BF-D67A-1999-0F5EA9B2ECB6}"/>
              </a:ext>
            </a:extLst>
          </p:cNvPr>
          <p:cNvCxnSpPr/>
          <p:nvPr/>
        </p:nvCxnSpPr>
        <p:spPr>
          <a:xfrm>
            <a:off x="8449732" y="3886200"/>
            <a:ext cx="0" cy="3725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321D42-784B-13AD-1503-45DFA2AD92B3}"/>
              </a:ext>
            </a:extLst>
          </p:cNvPr>
          <p:cNvSpPr txBox="1"/>
          <p:nvPr/>
        </p:nvSpPr>
        <p:spPr>
          <a:xfrm>
            <a:off x="1684867" y="4919133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Design improves as user discover needs, data grows, and queries change.</a:t>
            </a:r>
          </a:p>
        </p:txBody>
      </p:sp>
    </p:spTree>
    <p:extLst>
      <p:ext uri="{BB962C8B-B14F-4D97-AF65-F5344CB8AC3E}">
        <p14:creationId xmlns:p14="http://schemas.microsoft.com/office/powerpoint/2010/main" val="1423919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F4CB4-C714-E41D-916C-9E7559A9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Lucida Calligraphy" panose="03010101010101010101" pitchFamily="66" charset="0"/>
              </a:rPr>
              <a:t>finito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B317C-BE80-FCB8-EB77-5E49DC21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6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316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Lucida Calligraphy</vt:lpstr>
      <vt:lpstr>Office Theme</vt:lpstr>
      <vt:lpstr>CS3700 Intro to Database &amp; Modelling– Week 1 </vt:lpstr>
      <vt:lpstr>The Main Idea</vt:lpstr>
      <vt:lpstr>Why Bad Design is Extremely expensive</vt:lpstr>
      <vt:lpstr>Database Design Life Cycle(High-level)</vt:lpstr>
      <vt:lpstr>Database Design Life Cycle(High-level)</vt:lpstr>
      <vt:lpstr>Database Design Life Cycle(High-level)</vt:lpstr>
      <vt:lpstr>Database Design Life Cycle(High-level)</vt:lpstr>
      <vt:lpstr>Database Design Life Cycle(High-level)</vt:lpstr>
      <vt:lpstr>Design is iterative, not linear</vt:lpstr>
      <vt:lpstr>finito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Joshi, Bibek Raj</dc:creator>
  <cp:lastModifiedBy>Joshi, Bibek Raj</cp:lastModifiedBy>
  <cp:revision>11</cp:revision>
  <dcterms:created xsi:type="dcterms:W3CDTF">2026-01-14T05:30:02Z</dcterms:created>
  <dcterms:modified xsi:type="dcterms:W3CDTF">2026-09-02T14:09:37Z</dcterms:modified>
</cp:coreProperties>
</file>