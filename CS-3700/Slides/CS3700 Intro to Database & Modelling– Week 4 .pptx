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2" r:id="rId3"/>
    <p:sldId id="284" r:id="rId4"/>
    <p:sldId id="283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58" r:id="rId13"/>
    <p:sldId id="277" r:id="rId14"/>
    <p:sldId id="278" r:id="rId15"/>
    <p:sldId id="279" r:id="rId16"/>
    <p:sldId id="280" r:id="rId17"/>
    <p:sldId id="281" r:id="rId18"/>
    <p:sldId id="292" r:id="rId19"/>
    <p:sldId id="293" r:id="rId20"/>
    <p:sldId id="295" r:id="rId21"/>
    <p:sldId id="296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9925-0EA6-02DD-25CC-C2E68921D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C7B7E8-71E8-4363-F399-9F39B34737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B9A6E-D967-2636-106F-A5314E0CE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B7062-0E12-A5A2-34DB-32B1D0D13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DEE58-0812-AFB9-8B25-0F1D3BA37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468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14BF2-A987-99B5-2698-3F76FABA7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031C3-5259-4DBB-4CE0-28661CBAD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3B217-240D-82B9-9AF1-0660C9D08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312DA-0D6C-05E1-B85E-FEBE1A6F7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67F7B-720E-B4FA-3BC7-3CE579239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695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BE3A5-BBF7-2325-F4CE-6087E6C5E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8FD1A-B2FF-50AD-6AB9-B3ABC614F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5D20B-2B81-FAF0-C7CC-1876A8E29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C76A8-58E1-60CF-E935-D66EBF8C0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468F2-11CD-D04D-EC12-9893BD4EC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36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3BFD-6808-B652-4C05-ACF2FA1EA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4AC45-D23B-03C0-308F-E74A842984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5C5414-FDD3-C011-6380-8CF89CB04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331C0-C33D-B269-CE32-BD67BF1EC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3BFEBF-61DF-B907-FBA7-114D92514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5C76D-9485-B4ED-1BB1-16FB77601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136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F646A-1C39-5217-C2A2-E76C8AE95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C663E-3B4B-125D-0D76-796F6F108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98176B-E80F-96D3-383C-D4148820E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2181FE-10D9-35B0-B442-A11BF79FFE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6A8CA4-E8BE-5E7C-BEB5-7A23B7F1C3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093B0F-BE15-0A32-645B-9D06B478E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34B8E6-A27A-C7EA-F407-359B027CC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2E21BA-963A-23EB-3227-79CADDF1D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80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70AB0-E8A7-1EA8-E983-0E548A244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DD5C97-577C-2C7B-B79B-B1E1928C4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A5660D-07BA-6854-E5C3-A62F9DB69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F6ECB-0576-8D51-BED7-23BD01DF6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809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2AD0BB-C66D-CBE7-90AE-4E86702F2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36B7D5-9CAC-2BB9-D364-45F9B84D5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03F97-4767-ADE1-D2F2-879D35C93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353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A1B0F-D169-E0F2-F04F-F8C5DC4FE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C7805-17F9-AA02-41B1-6F08885D6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4A02C3-116C-A475-5677-3B259AC3C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3696A7-F849-5E6A-217D-716653DB8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8BCA1-5AC9-11E6-F9A7-31841F87F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257BC-E0F0-7ECB-6971-263E3DA15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2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8E31A-1024-415C-D9B5-FCDE4D6A0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A5AB50-9A41-5189-CEDD-54DADDAFE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C3D5F7-9038-F085-DDF0-9A8DF943B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903F9-DD77-5BD4-67D6-BC92F1579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3562E-E2EF-178C-84B7-1A29BC526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43BBC-7AAA-2BAB-3350-88FA8650C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291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2E922-BE74-FC5B-6FE9-798BF4407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309CA1-1364-4F9B-3C40-808CAC8CC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FC67A-62EE-5B47-4C90-FDB913741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29FC1-94CE-F9E0-072F-0175E5AAB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561EA-8E48-6F1C-6750-934F2ABF9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337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708D5C-C0F6-D4A1-78D3-F78B15AC0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52B132-704A-90E1-12A9-A6C660B161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C7C39-3B44-F9C5-4566-BE621C8D8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A79F-CAA4-4BA3-94B9-0C35896CE18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847AF-1132-0627-51B8-3AAA187C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541D-D7CA-DEE2-C9F6-A8C2F89BB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2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41BFDB-A5C7-FBEF-6726-A9CB9AD29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B5DCB-F7B8-1296-B130-E1A21585D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9758A-E657-F11C-7C19-109A790C3B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8FA79F-CAA4-4BA3-94B9-0C35896CE18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A3DD7-2942-E5AE-C41E-BBAAD616A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C0884-5E6F-4CC1-9478-9F15EEC6A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20EADA-15FD-4CF2-B5E0-12B23ED57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243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watertribe@wright.edu" TargetMode="External"/><Relationship Id="rId2" Type="http://schemas.openxmlformats.org/officeDocument/2006/relationships/hyperlink" Target="mailto:airnomad@wright.edu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E52B1-1347-21A0-4603-5CDDEF3948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CS3700 Intro to Database &amp; Modelling– Week 3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400A91-7FC9-E396-71A3-4A57DD09A5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94265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Generalization, Specialization (Week 3)</a:t>
            </a:r>
          </a:p>
          <a:p>
            <a:r>
              <a:rPr lang="en-US" dirty="0"/>
              <a:t>The Relational Data Model &amp; ER-to –Relational Mapping</a:t>
            </a:r>
          </a:p>
          <a:p>
            <a:r>
              <a:rPr lang="en-US" dirty="0"/>
              <a:t>Bibek Raj Joshi</a:t>
            </a:r>
          </a:p>
          <a:p>
            <a:r>
              <a:rPr lang="en-US" dirty="0"/>
              <a:t>Fall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3D876-CD84-6E0D-1C36-9605C78316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665" y="4952299"/>
            <a:ext cx="3310135" cy="156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088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6928B-6F34-87F5-09A9-2A7D3635C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9F004-FA9E-2071-9C0E-A82B93652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Generalization &amp; Specialization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80475-7813-59F4-093F-46621CC9C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does Generalization and Specialization exists?</a:t>
            </a:r>
          </a:p>
          <a:p>
            <a:pPr lvl="1"/>
            <a:r>
              <a:rPr lang="en-US" dirty="0"/>
              <a:t>It is used to model hierarchical relationships in real-world data where:</a:t>
            </a:r>
          </a:p>
          <a:p>
            <a:pPr lvl="2"/>
            <a:r>
              <a:rPr lang="en-US" dirty="0"/>
              <a:t>Multiple entities share common attributes</a:t>
            </a:r>
          </a:p>
          <a:p>
            <a:pPr lvl="2"/>
            <a:r>
              <a:rPr lang="en-US" dirty="0"/>
              <a:t>Some entities have additional, role-specific attributes</a:t>
            </a:r>
          </a:p>
          <a:p>
            <a:pPr lvl="2"/>
            <a:r>
              <a:rPr lang="en-US" dirty="0"/>
              <a:t>Business rules apply differently to different subset of entities.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Helps us:</a:t>
            </a:r>
          </a:p>
          <a:p>
            <a:pPr lvl="2"/>
            <a:r>
              <a:rPr lang="en-US" dirty="0"/>
              <a:t>Reduce redundancy</a:t>
            </a:r>
          </a:p>
          <a:p>
            <a:pPr lvl="2"/>
            <a:r>
              <a:rPr lang="en-US" dirty="0"/>
              <a:t>Capture real-world structure accurately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18586C-C5DB-A6B6-396A-B779898917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21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3A4B1-61A9-CA6E-3662-5F87F6FBA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Superclass &amp; Subclass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D82EE-57F2-5598-ECDD-1A5109A16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Superclass</a:t>
            </a:r>
          </a:p>
          <a:p>
            <a:pPr lvl="1"/>
            <a:r>
              <a:rPr lang="en-US" dirty="0"/>
              <a:t>A general entity type containing attributes common to all members</a:t>
            </a:r>
          </a:p>
          <a:p>
            <a:r>
              <a:rPr lang="en-US" dirty="0"/>
              <a:t>Subclass</a:t>
            </a:r>
          </a:p>
          <a:p>
            <a:pPr lvl="1"/>
            <a:r>
              <a:rPr lang="en-US" dirty="0"/>
              <a:t>A specialized entity type that:</a:t>
            </a:r>
          </a:p>
          <a:p>
            <a:pPr lvl="2"/>
            <a:r>
              <a:rPr lang="en-US" dirty="0"/>
              <a:t>Is a subset of the superclass</a:t>
            </a:r>
          </a:p>
          <a:p>
            <a:pPr lvl="2"/>
            <a:r>
              <a:rPr lang="en-US" dirty="0"/>
              <a:t>Inherits all attributes of the superclass</a:t>
            </a:r>
          </a:p>
          <a:p>
            <a:pPr lvl="2"/>
            <a:r>
              <a:rPr lang="en-US" dirty="0"/>
              <a:t>May have additional attributes or relationships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8B4BBD-8356-AE7F-B8C0-07A324F42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020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FAEFF-C172-CDD2-3B1F-E1C7F4B39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E3630-1DCE-C521-A41A-28B26373C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17E61-682F-55D3-1E4B-3686B438F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Generalization is a bottom-up modeling process where multiple entity types with similar attributes are combined in a single, more general entity(superclass)</a:t>
            </a:r>
          </a:p>
          <a:p>
            <a:r>
              <a:rPr lang="en-US" dirty="0"/>
              <a:t>Use generalization when:</a:t>
            </a:r>
          </a:p>
          <a:p>
            <a:pPr lvl="1"/>
            <a:r>
              <a:rPr lang="en-US" dirty="0"/>
              <a:t>Duplicated attributes across entities</a:t>
            </a:r>
          </a:p>
          <a:p>
            <a:pPr lvl="1"/>
            <a:r>
              <a:rPr lang="en-US" dirty="0"/>
              <a:t>Entities represent variations of the same real-world concept</a:t>
            </a:r>
          </a:p>
          <a:p>
            <a:pPr lvl="1"/>
            <a:r>
              <a:rPr lang="en-US" dirty="0"/>
              <a:t>Reduce redundancy and improve clarity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4CA1A6-1CDB-403B-3C94-ABEE52199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955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50814-A102-C60A-B19E-0B48C568D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4D2DF-E973-45BC-4D92-468D691A7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Student(</a:t>
            </a:r>
            <a:r>
              <a:rPr lang="en-US" dirty="0" err="1"/>
              <a:t>StudentID</a:t>
            </a:r>
            <a:r>
              <a:rPr lang="en-US" dirty="0"/>
              <a:t>, Name, Email)</a:t>
            </a:r>
          </a:p>
          <a:p>
            <a:pPr lvl="1"/>
            <a:r>
              <a:rPr lang="en-US" dirty="0"/>
              <a:t>Instructor(</a:t>
            </a:r>
            <a:r>
              <a:rPr lang="en-US" dirty="0" err="1"/>
              <a:t>InstructorID</a:t>
            </a:r>
            <a:r>
              <a:rPr lang="en-US" dirty="0"/>
              <a:t>, Name, Email)</a:t>
            </a:r>
          </a:p>
          <a:p>
            <a:endParaRPr lang="en-US" dirty="0"/>
          </a:p>
          <a:p>
            <a:pPr lvl="1"/>
            <a:r>
              <a:rPr lang="en-US" dirty="0"/>
              <a:t>Person(</a:t>
            </a:r>
            <a:r>
              <a:rPr lang="en-US" dirty="0" err="1"/>
              <a:t>PersonID</a:t>
            </a:r>
            <a:r>
              <a:rPr lang="en-US" dirty="0"/>
              <a:t>, Name, Email)</a:t>
            </a:r>
          </a:p>
          <a:p>
            <a:pPr lvl="2"/>
            <a:r>
              <a:rPr lang="en-US" dirty="0"/>
              <a:t>Student</a:t>
            </a:r>
          </a:p>
          <a:p>
            <a:pPr lvl="2"/>
            <a:r>
              <a:rPr lang="en-US" dirty="0"/>
              <a:t>Instructor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Person is the superclass</a:t>
            </a:r>
          </a:p>
          <a:p>
            <a:pPr lvl="1"/>
            <a:r>
              <a:rPr lang="en-US" dirty="0"/>
              <a:t>Student and Instructor are subclasses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7BBD39-259B-C979-36D9-3EBB193FED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801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D4BE8-3476-238F-6301-06C99050C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37997-0773-43F9-EF3E-599C993F4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8FB16-7B2B-60C4-A431-9E6F386B0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Specialization is a top-down modeling process where:</a:t>
            </a:r>
          </a:p>
          <a:p>
            <a:pPr lvl="1"/>
            <a:r>
              <a:rPr lang="en-US" dirty="0"/>
              <a:t>A single entity type is divided into multiple more specific entity types(subclasses) based on roles, behavior, or constraints</a:t>
            </a:r>
          </a:p>
          <a:p>
            <a:r>
              <a:rPr lang="en-US" dirty="0"/>
              <a:t>Use specialization when:</a:t>
            </a:r>
          </a:p>
          <a:p>
            <a:pPr lvl="1"/>
            <a:r>
              <a:rPr lang="en-US" dirty="0"/>
              <a:t>Only some entities need certain attributes</a:t>
            </a:r>
          </a:p>
          <a:p>
            <a:pPr lvl="1"/>
            <a:r>
              <a:rPr lang="en-US" dirty="0"/>
              <a:t>Business rules differ across subsets</a:t>
            </a:r>
          </a:p>
          <a:p>
            <a:pPr lvl="1"/>
            <a:r>
              <a:rPr lang="en-US" dirty="0"/>
              <a:t>Entities participate in different relationships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4E07AE-FE37-088A-3394-AE033C42F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225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D6E10-814B-821C-B0FB-F83CE4719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07C4F-F8FB-27E3-8A9D-A609F801E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63786-47A0-1115-5CE0-8894A728D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Employee(</a:t>
            </a:r>
            <a:r>
              <a:rPr lang="en-US" dirty="0" err="1"/>
              <a:t>EmployeeID</a:t>
            </a:r>
            <a:r>
              <a:rPr lang="en-US" dirty="0"/>
              <a:t>, Name, Salary)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Employee</a:t>
            </a:r>
          </a:p>
          <a:p>
            <a:pPr lvl="2"/>
            <a:r>
              <a:rPr lang="en-US" dirty="0"/>
              <a:t>Faculty(Rank, </a:t>
            </a:r>
            <a:r>
              <a:rPr lang="en-US" dirty="0" err="1"/>
              <a:t>TenureStatus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Staff(</a:t>
            </a:r>
            <a:r>
              <a:rPr lang="en-US" dirty="0" err="1"/>
              <a:t>HourlyRate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Administrator(</a:t>
            </a:r>
            <a:r>
              <a:rPr lang="en-US" dirty="0" err="1"/>
              <a:t>AdminLevel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All subclass inherit </a:t>
            </a:r>
            <a:r>
              <a:rPr lang="en-US" dirty="0" err="1"/>
              <a:t>EmployeeID</a:t>
            </a:r>
            <a:r>
              <a:rPr lang="en-US" dirty="0"/>
              <a:t>, Name, Salary and add role specific attributes.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7F7FA0-8DBA-0F64-D848-2277E9262C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946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1392C-78FC-3AAB-D918-C8D091525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5CCD4-1A04-848C-7482-D8697FE80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Specialization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C5166-FFCC-5E8F-0F64-D20E73BD5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Disjoint Specialization</a:t>
            </a:r>
          </a:p>
          <a:p>
            <a:pPr lvl="1"/>
            <a:r>
              <a:rPr lang="en-US" dirty="0"/>
              <a:t>An entity can belong to only one subclass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A person is either</a:t>
            </a:r>
          </a:p>
          <a:p>
            <a:pPr lvl="3"/>
            <a:r>
              <a:rPr lang="en-US" dirty="0"/>
              <a:t>Student</a:t>
            </a:r>
          </a:p>
          <a:p>
            <a:pPr lvl="3"/>
            <a:r>
              <a:rPr lang="en-US" dirty="0"/>
              <a:t>Instructor</a:t>
            </a:r>
          </a:p>
          <a:p>
            <a:pPr marL="1371600" lvl="3" indent="0">
              <a:buNone/>
            </a:pPr>
            <a:r>
              <a:rPr lang="en-US" dirty="0"/>
              <a:t>But </a:t>
            </a:r>
            <a:r>
              <a:rPr lang="en-US" b="1" dirty="0"/>
              <a:t>not both</a:t>
            </a:r>
          </a:p>
          <a:p>
            <a:pPr lvl="1"/>
            <a:r>
              <a:rPr lang="en-US" dirty="0"/>
              <a:t>Business meaning: roles are mutually exclusive</a:t>
            </a:r>
          </a:p>
          <a:p>
            <a:pPr lvl="1"/>
            <a:r>
              <a:rPr lang="en-US" dirty="0"/>
              <a:t>Often labeled with 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0BDBC4-CA1F-D4FC-7E6F-3D28A6C40B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035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3E192-F509-CB3D-E2FE-0F6605CEF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4F3D-DC84-4DBA-3C06-BD4903271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Specialization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425B9-4365-B383-2E69-B8D088B83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Overlapping Specialization</a:t>
            </a:r>
          </a:p>
          <a:p>
            <a:pPr lvl="1"/>
            <a:r>
              <a:rPr lang="en-US" dirty="0"/>
              <a:t>An entity can belong to multiple subclass simultaneously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A person can be:</a:t>
            </a:r>
          </a:p>
          <a:p>
            <a:pPr lvl="3"/>
            <a:r>
              <a:rPr lang="en-US" dirty="0"/>
              <a:t>Student</a:t>
            </a:r>
          </a:p>
          <a:p>
            <a:pPr lvl="3"/>
            <a:r>
              <a:rPr lang="en-US" dirty="0"/>
              <a:t>Teaching Assistant</a:t>
            </a:r>
          </a:p>
          <a:p>
            <a:pPr lvl="1"/>
            <a:r>
              <a:rPr lang="en-US" dirty="0"/>
              <a:t>Business meaning: roles can overlap</a:t>
            </a:r>
          </a:p>
          <a:p>
            <a:pPr lvl="1"/>
            <a:r>
              <a:rPr lang="en-US" dirty="0"/>
              <a:t>Often labeled with 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5CDD1B-F3BA-A13D-8517-AA5D0A4F2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777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02797-A58D-F769-5E08-1A95B0BBB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D115-17C1-4DB1-2114-138134531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Specialization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8F073-CE35-8F7A-E480-81C41CE46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Specialization</a:t>
            </a:r>
          </a:p>
          <a:p>
            <a:pPr lvl="1"/>
            <a:r>
              <a:rPr lang="en-US" dirty="0"/>
              <a:t>Every superclass entity must belong to at least one subclass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Every employee must be:</a:t>
            </a:r>
          </a:p>
          <a:p>
            <a:pPr lvl="3"/>
            <a:r>
              <a:rPr lang="en-US" dirty="0"/>
              <a:t>Faculty</a:t>
            </a:r>
          </a:p>
          <a:p>
            <a:pPr lvl="3"/>
            <a:r>
              <a:rPr lang="en-US" dirty="0"/>
              <a:t>Staff</a:t>
            </a:r>
          </a:p>
          <a:p>
            <a:pPr lvl="3"/>
            <a:r>
              <a:rPr lang="en-US" dirty="0"/>
              <a:t>Administrator</a:t>
            </a:r>
          </a:p>
          <a:p>
            <a:pPr lvl="1"/>
            <a:r>
              <a:rPr lang="en-US" dirty="0"/>
              <a:t>The superclass alone is incomplete.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92F9E3-B1B3-4B46-E6C5-C2DD2A15A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887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46F9D-59C2-50E1-4E58-C95BD66BA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0BD67-FE44-738D-E903-19382B687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Specialization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A8E92-FFD2-2120-736A-715ECDC92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Partial Specialization</a:t>
            </a:r>
          </a:p>
          <a:p>
            <a:pPr lvl="1"/>
            <a:r>
              <a:rPr lang="en-US" dirty="0"/>
              <a:t>Some superclass entities may not belong to any sub class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Some person are:</a:t>
            </a:r>
          </a:p>
          <a:p>
            <a:pPr lvl="3"/>
            <a:r>
              <a:rPr lang="en-US" dirty="0"/>
              <a:t>Student</a:t>
            </a:r>
          </a:p>
          <a:p>
            <a:pPr lvl="3"/>
            <a:r>
              <a:rPr lang="en-US" dirty="0"/>
              <a:t>Instructor</a:t>
            </a:r>
          </a:p>
          <a:p>
            <a:pPr lvl="3"/>
            <a:r>
              <a:rPr lang="en-US" dirty="0"/>
              <a:t>Or neither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E631DD-BCC0-48FE-1BDD-4BF030AAC0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940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DA8A5-7C8E-CDBC-28B3-A12D03BEC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What is the Relational Data Model?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A3A18-F072-DCB8-B834-334780294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relational data model represents data as:</a:t>
            </a:r>
          </a:p>
          <a:p>
            <a:pPr lvl="1"/>
            <a:r>
              <a:rPr lang="en-US" dirty="0"/>
              <a:t>Relations (table)</a:t>
            </a:r>
          </a:p>
          <a:p>
            <a:pPr lvl="1"/>
            <a:r>
              <a:rPr lang="en-US" dirty="0"/>
              <a:t>Tuples (rows)</a:t>
            </a:r>
          </a:p>
          <a:p>
            <a:pPr lvl="1"/>
            <a:r>
              <a:rPr lang="en-US" dirty="0"/>
              <a:t>Attributes (columns)</a:t>
            </a:r>
          </a:p>
          <a:p>
            <a:endParaRPr lang="en-US" dirty="0"/>
          </a:p>
          <a:p>
            <a:r>
              <a:rPr lang="en-US" dirty="0"/>
              <a:t>Each relation:</a:t>
            </a:r>
          </a:p>
          <a:p>
            <a:pPr lvl="1"/>
            <a:r>
              <a:rPr lang="en-US" dirty="0"/>
              <a:t>Has a name</a:t>
            </a:r>
          </a:p>
          <a:p>
            <a:pPr lvl="1"/>
            <a:r>
              <a:rPr lang="en-US" dirty="0"/>
              <a:t>Has a fixed set of attributes</a:t>
            </a:r>
          </a:p>
          <a:p>
            <a:pPr lvl="1"/>
            <a:r>
              <a:rPr lang="en-US" dirty="0"/>
              <a:t>Contains tuples with values from defined domains(valid values for an attribute)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DD5C7B-1116-FDC6-1C4F-2DD1939C2C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152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78B2B-D54C-FF4D-F9DA-3E164EE83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 vs Instance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7325C-637B-D905-5856-16FDD393E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Schema </a:t>
            </a:r>
            <a:r>
              <a:rPr lang="en-US" dirty="0">
                <a:sym typeface="Wingdings" panose="05000000000000000000" pitchFamily="2" charset="2"/>
              </a:rPr>
              <a:t> The definition/blueprint</a:t>
            </a:r>
          </a:p>
          <a:p>
            <a:r>
              <a:rPr lang="en-US" dirty="0">
                <a:sym typeface="Wingdings" panose="05000000000000000000" pitchFamily="2" charset="2"/>
              </a:rPr>
              <a:t>Instance  The actual data at a point in time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Example: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STUDENT(</a:t>
            </a:r>
            <a:r>
              <a:rPr lang="en-US" dirty="0" err="1">
                <a:sym typeface="Wingdings" panose="05000000000000000000" pitchFamily="2" charset="2"/>
              </a:rPr>
              <a:t>StudentID</a:t>
            </a:r>
            <a:r>
              <a:rPr lang="en-US" dirty="0">
                <a:sym typeface="Wingdings" panose="05000000000000000000" pitchFamily="2" charset="2"/>
              </a:rPr>
              <a:t>, Name, Email)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U000000, Aang AirNomad, </a:t>
            </a:r>
            <a:r>
              <a:rPr lang="en-US" dirty="0">
                <a:sym typeface="Wingdings" panose="05000000000000000000" pitchFamily="2" charset="2"/>
                <a:hlinkClick r:id="rId2"/>
              </a:rPr>
              <a:t>airnomad@wright.edu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U000001, Katara WaterTribe, </a:t>
            </a:r>
            <a:r>
              <a:rPr lang="en-US" dirty="0">
                <a:sym typeface="Wingdings" panose="05000000000000000000" pitchFamily="2" charset="2"/>
                <a:hlinkClick r:id="rId3"/>
              </a:rPr>
              <a:t>watertribe@wright.edu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U000002, Zuko </a:t>
            </a:r>
            <a:r>
              <a:rPr lang="en-US" dirty="0" err="1">
                <a:sym typeface="Wingdings" panose="05000000000000000000" pitchFamily="2" charset="2"/>
              </a:rPr>
              <a:t>FireNation</a:t>
            </a:r>
            <a:r>
              <a:rPr lang="en-US" dirty="0">
                <a:sym typeface="Wingdings" panose="05000000000000000000" pitchFamily="2" charset="2"/>
              </a:rPr>
              <a:t>, </a:t>
            </a:r>
          </a:p>
          <a:p>
            <a:pPr marL="457200" lvl="1" indent="0">
              <a:buNone/>
            </a:pPr>
            <a:r>
              <a:rPr lang="en-US" i="1" dirty="0">
                <a:solidFill>
                  <a:srgbClr val="FF0000"/>
                </a:solidFill>
                <a:sym typeface="Wingdings" panose="05000000000000000000" pitchFamily="2" charset="2"/>
              </a:rPr>
              <a:t>Schemas change rarely. Instances change constantly.</a:t>
            </a:r>
            <a:endParaRPr lang="en-US" i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A5745D-38D0-5852-FEEB-04142A76D0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619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BD33A-4639-4E89-3C07-42ADFD827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8AC86-2B30-B77E-43C1-38FAEC9F3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Keys in Relational Schemas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9D21A-E326-FBB9-E459-41E0A9CF5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Primary Key (PK)</a:t>
            </a:r>
          </a:p>
          <a:p>
            <a:pPr lvl="1"/>
            <a:r>
              <a:rPr lang="en-US" dirty="0"/>
              <a:t>Uniquely identifies each tuple; </a:t>
            </a:r>
          </a:p>
          <a:p>
            <a:pPr lvl="1"/>
            <a:r>
              <a:rPr lang="en-US" dirty="0"/>
              <a:t>Cannot be NULL</a:t>
            </a:r>
          </a:p>
          <a:p>
            <a:r>
              <a:rPr lang="en-US" dirty="0"/>
              <a:t>Foreign Key (FK)</a:t>
            </a:r>
          </a:p>
          <a:p>
            <a:pPr lvl="1"/>
            <a:r>
              <a:rPr lang="en-US" dirty="0"/>
              <a:t>References a primary key in another relation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ENROLLMENT(</a:t>
            </a:r>
            <a:r>
              <a:rPr lang="en-US" dirty="0" err="1"/>
              <a:t>StudentID</a:t>
            </a:r>
            <a:r>
              <a:rPr lang="en-US" dirty="0"/>
              <a:t> FK, </a:t>
            </a:r>
            <a:r>
              <a:rPr lang="en-US" dirty="0" err="1"/>
              <a:t>CourseID</a:t>
            </a:r>
            <a:r>
              <a:rPr lang="en-US" dirty="0"/>
              <a:t> FK, Session, Status)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C9C0F6-C64B-AB93-CFC5-1791DFA579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825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EE1A9-3131-3499-B15C-D3F9A19E5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41CBA-7DAB-3BDC-D320-B3CFE29EC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Integrity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E88B6-FF9A-DA24-1ECC-634852AF7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Relational Schemas enforce rules using:</a:t>
            </a:r>
          </a:p>
          <a:p>
            <a:pPr lvl="1"/>
            <a:r>
              <a:rPr lang="en-US" dirty="0"/>
              <a:t>Entity integrity – PK is unique and NOT NULL</a:t>
            </a:r>
          </a:p>
          <a:p>
            <a:pPr lvl="1"/>
            <a:r>
              <a:rPr lang="en-US" dirty="0"/>
              <a:t>Referential Integrity – FK must match PK or be NULL</a:t>
            </a:r>
          </a:p>
          <a:p>
            <a:pPr lvl="1"/>
            <a:r>
              <a:rPr lang="en-US" dirty="0"/>
              <a:t>Domain constraints – Data types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i="1" dirty="0">
                <a:solidFill>
                  <a:srgbClr val="FF0000"/>
                </a:solidFill>
              </a:rPr>
              <a:t>ER diagrams describe the rules; schemas enforce them.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AEA244-3CF8-C954-D391-2CB8B84B3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771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C3337-C544-653B-3117-F5E7D9BA2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5E1EA-23D1-F328-1623-78713C364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Strong Entities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62D6A-E64B-89F5-F35B-9F3DBA759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Rule:</a:t>
            </a:r>
          </a:p>
          <a:p>
            <a:pPr lvl="1"/>
            <a:r>
              <a:rPr lang="en-US" dirty="0"/>
              <a:t>Each strong entity becomes a relation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3E21E7-1620-7080-478D-CC3C2A2F05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F7FE46CA-CC17-2D15-03B3-9752FD044C04}"/>
              </a:ext>
            </a:extLst>
          </p:cNvPr>
          <p:cNvGrpSpPr/>
          <p:nvPr/>
        </p:nvGrpSpPr>
        <p:grpSpPr>
          <a:xfrm>
            <a:off x="1885950" y="3201195"/>
            <a:ext cx="2438400" cy="1600198"/>
            <a:chOff x="1219200" y="3924300"/>
            <a:chExt cx="2438400" cy="160019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B557DCE-9C01-BDA3-8411-1B2BC4E88F2D}"/>
                </a:ext>
              </a:extLst>
            </p:cNvPr>
            <p:cNvSpPr/>
            <p:nvPr/>
          </p:nvSpPr>
          <p:spPr>
            <a:xfrm>
              <a:off x="1895475" y="3924300"/>
              <a:ext cx="1200150" cy="3524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Student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C89DA56-BAA7-EA60-ADD2-6B46FF0631EF}"/>
                </a:ext>
              </a:extLst>
            </p:cNvPr>
            <p:cNvGrpSpPr/>
            <p:nvPr/>
          </p:nvGrpSpPr>
          <p:grpSpPr>
            <a:xfrm>
              <a:off x="1219200" y="4276725"/>
              <a:ext cx="2438400" cy="1247773"/>
              <a:chOff x="1219200" y="4276725"/>
              <a:chExt cx="2438400" cy="1247773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DDA029C8-445A-3855-B402-321C3996BE7D}"/>
                  </a:ext>
                </a:extLst>
              </p:cNvPr>
              <p:cNvSpPr/>
              <p:nvPr/>
            </p:nvSpPr>
            <p:spPr>
              <a:xfrm>
                <a:off x="1219200" y="4487862"/>
                <a:ext cx="923925" cy="42862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 err="1"/>
                  <a:t>StudentID</a:t>
                </a:r>
                <a:endParaRPr lang="en-US" sz="1050" dirty="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20471AF-BED6-7FC7-FD12-AC9231D96685}"/>
                  </a:ext>
                </a:extLst>
              </p:cNvPr>
              <p:cNvSpPr/>
              <p:nvPr/>
            </p:nvSpPr>
            <p:spPr>
              <a:xfrm>
                <a:off x="2033587" y="5095873"/>
                <a:ext cx="923925" cy="42862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Name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E27E4C7-3484-A14B-9C89-23D880A521B7}"/>
                  </a:ext>
                </a:extLst>
              </p:cNvPr>
              <p:cNvSpPr/>
              <p:nvPr/>
            </p:nvSpPr>
            <p:spPr>
              <a:xfrm>
                <a:off x="2733675" y="4487862"/>
                <a:ext cx="923925" cy="42862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Email</a:t>
                </a: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3F9E4398-496F-B9D1-7149-F59AD0F12A6C}"/>
                  </a:ext>
                </a:extLst>
              </p:cNvPr>
              <p:cNvCxnSpPr>
                <a:stCxn id="6" idx="0"/>
              </p:cNvCxnSpPr>
              <p:nvPr/>
            </p:nvCxnSpPr>
            <p:spPr>
              <a:xfrm flipV="1">
                <a:off x="1681163" y="4276725"/>
                <a:ext cx="814386" cy="21113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5D3D69E-8603-5BCF-E288-AEBD5DFA8E05}"/>
                  </a:ext>
                </a:extLst>
              </p:cNvPr>
              <p:cNvCxnSpPr>
                <a:stCxn id="7" idx="0"/>
                <a:endCxn id="5" idx="2"/>
              </p:cNvCxnSpPr>
              <p:nvPr/>
            </p:nvCxnSpPr>
            <p:spPr>
              <a:xfrm flipV="1">
                <a:off x="2495550" y="4276725"/>
                <a:ext cx="0" cy="81914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DD28D73C-8294-CF49-3B9E-5A960E045E3C}"/>
                  </a:ext>
                </a:extLst>
              </p:cNvPr>
              <p:cNvCxnSpPr>
                <a:stCxn id="8" idx="1"/>
                <a:endCxn id="5" idx="2"/>
              </p:cNvCxnSpPr>
              <p:nvPr/>
            </p:nvCxnSpPr>
            <p:spPr>
              <a:xfrm flipH="1" flipV="1">
                <a:off x="2495550" y="4276725"/>
                <a:ext cx="373431" cy="27390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1088C8F-E169-8BE8-E71D-4D0632B9A52F}"/>
              </a:ext>
            </a:extLst>
          </p:cNvPr>
          <p:cNvCxnSpPr/>
          <p:nvPr/>
        </p:nvCxnSpPr>
        <p:spPr>
          <a:xfrm>
            <a:off x="4610100" y="3963194"/>
            <a:ext cx="17049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009CD83-CF3F-D627-62BA-8372BAB55BFC}"/>
              </a:ext>
            </a:extLst>
          </p:cNvPr>
          <p:cNvSpPr txBox="1"/>
          <p:nvPr/>
        </p:nvSpPr>
        <p:spPr>
          <a:xfrm>
            <a:off x="6581775" y="3690574"/>
            <a:ext cx="4400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STUDENT(</a:t>
            </a:r>
            <a:r>
              <a:rPr lang="en-US" dirty="0" err="1"/>
              <a:t>StudentID</a:t>
            </a:r>
            <a:r>
              <a:rPr lang="en-US" dirty="0"/>
              <a:t> PK, Name, Email)</a:t>
            </a:r>
          </a:p>
        </p:txBody>
      </p:sp>
    </p:spTree>
    <p:extLst>
      <p:ext uri="{BB962C8B-B14F-4D97-AF65-F5344CB8AC3E}">
        <p14:creationId xmlns:p14="http://schemas.microsoft.com/office/powerpoint/2010/main" val="22203346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DBFB2-794B-0A76-4CC8-FD62BF52F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AF6B-D762-7FEB-E216-8848546FD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Weak Entities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2BC68-163E-F8E1-4E85-254F15EAC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weak entity becomes a relation that includes the primary  key of the owner entity </a:t>
            </a:r>
            <a:r>
              <a:rPr lang="en-US" dirty="0">
                <a:sym typeface="Wingdings" panose="05000000000000000000" pitchFamily="2" charset="2"/>
              </a:rPr>
              <a:t> Combined Primary key</a:t>
            </a:r>
          </a:p>
          <a:p>
            <a:r>
              <a:rPr lang="en-US" dirty="0">
                <a:sym typeface="Wingdings" panose="05000000000000000000" pitchFamily="2" charset="2"/>
              </a:rPr>
              <a:t>Example: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Employee(</a:t>
            </a:r>
            <a:r>
              <a:rPr lang="en-US" dirty="0" err="1">
                <a:sym typeface="Wingdings" panose="05000000000000000000" pitchFamily="2" charset="2"/>
              </a:rPr>
              <a:t>EmployeeID</a:t>
            </a:r>
            <a:r>
              <a:rPr lang="en-US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Dependent(</a:t>
            </a:r>
            <a:r>
              <a:rPr lang="en-US" dirty="0" err="1">
                <a:sym typeface="Wingdings" panose="05000000000000000000" pitchFamily="2" charset="2"/>
              </a:rPr>
              <a:t>DependentName</a:t>
            </a:r>
            <a:r>
              <a:rPr lang="en-US" dirty="0">
                <a:sym typeface="Wingdings" panose="05000000000000000000" pitchFamily="2" charset="2"/>
              </a:rPr>
              <a:t>)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DEPENDENT(</a:t>
            </a:r>
            <a:r>
              <a:rPr lang="en-US" dirty="0" err="1">
                <a:sym typeface="Wingdings" panose="05000000000000000000" pitchFamily="2" charset="2"/>
              </a:rPr>
              <a:t>EmployeeID</a:t>
            </a:r>
            <a:r>
              <a:rPr lang="en-US" dirty="0">
                <a:sym typeface="Wingdings" panose="05000000000000000000" pitchFamily="2" charset="2"/>
              </a:rPr>
              <a:t> PK/FK, Dependent Name PK, Relationship)</a:t>
            </a:r>
          </a:p>
          <a:p>
            <a:pPr marL="457200" lvl="1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FK participation is total.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6F34B6-FC5E-510C-21E8-50C11B9CB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973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4C702-181E-89A8-462E-F831D7C06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2CE65-15F2-B8A4-1570-148A711EE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A6355-8F01-9EF0-79CB-9D8467FA7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One-to-Many (1:N)</a:t>
            </a:r>
          </a:p>
          <a:p>
            <a:pPr lvl="1"/>
            <a:r>
              <a:rPr lang="en-US" dirty="0"/>
              <a:t>Add the PK of the 1-side as an FK in the N-Side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Order(</a:t>
            </a:r>
            <a:r>
              <a:rPr lang="en-US" dirty="0" err="1"/>
              <a:t>OrderID</a:t>
            </a:r>
            <a:r>
              <a:rPr lang="en-US" dirty="0"/>
              <a:t> PK, </a:t>
            </a:r>
            <a:r>
              <a:rPr lang="en-US" dirty="0" err="1"/>
              <a:t>OrderDate</a:t>
            </a:r>
            <a:r>
              <a:rPr lang="en-US" dirty="0"/>
              <a:t>,  </a:t>
            </a:r>
            <a:r>
              <a:rPr lang="en-US" dirty="0" err="1"/>
              <a:t>CustomerID</a:t>
            </a:r>
            <a:r>
              <a:rPr lang="en-US" dirty="0"/>
              <a:t> FK)</a:t>
            </a:r>
          </a:p>
          <a:p>
            <a:r>
              <a:rPr lang="en-US" dirty="0"/>
              <a:t> One-to-one (1:1)</a:t>
            </a:r>
          </a:p>
          <a:p>
            <a:pPr lvl="1"/>
            <a:r>
              <a:rPr lang="en-US" dirty="0"/>
              <a:t>Prefer FK on side with total participation</a:t>
            </a:r>
          </a:p>
          <a:p>
            <a:pPr lvl="1"/>
            <a:r>
              <a:rPr lang="en-US" dirty="0"/>
              <a:t>Or merge tables if semantics allow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6B1BD0-54C2-689B-AA49-0C27006FC7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332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5FBE5-8462-1AA3-9513-71C9B35EE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88661-373D-5992-DAEB-A828D23A8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0874E-8922-537B-5E30-0B215D6D1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Many-to-Many(M:N)</a:t>
            </a:r>
          </a:p>
          <a:p>
            <a:pPr lvl="1"/>
            <a:r>
              <a:rPr lang="en-US" dirty="0"/>
              <a:t>Always create a new relation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ENROLLMENT(</a:t>
            </a:r>
            <a:r>
              <a:rPr lang="en-US" dirty="0" err="1"/>
              <a:t>StudentID</a:t>
            </a:r>
            <a:r>
              <a:rPr lang="en-US" dirty="0"/>
              <a:t> PK/FK, </a:t>
            </a:r>
            <a:r>
              <a:rPr lang="en-US" dirty="0" err="1"/>
              <a:t>CourseID</a:t>
            </a:r>
            <a:r>
              <a:rPr lang="en-US" dirty="0"/>
              <a:t> PK/FK, Grade)</a:t>
            </a:r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Many-to-many relationships DO NOT EXIST in relational schemas.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16F25B-FAE5-F828-D4AD-6C2658740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809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C2828-3F77-6C5D-4662-2F86FDB5C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8E432-5119-CF0B-2A9B-141A25F85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13C52-F405-8AD3-D8B0-C66B0FCD4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Many-to-Many(M:N)</a:t>
            </a:r>
          </a:p>
          <a:p>
            <a:pPr lvl="1"/>
            <a:r>
              <a:rPr lang="en-US" dirty="0"/>
              <a:t>Always create a new relation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ENROLLMENT(</a:t>
            </a:r>
            <a:r>
              <a:rPr lang="en-US" dirty="0" err="1"/>
              <a:t>StudentID</a:t>
            </a:r>
            <a:r>
              <a:rPr lang="en-US" dirty="0"/>
              <a:t> PK/FK, </a:t>
            </a:r>
            <a:r>
              <a:rPr lang="en-US" dirty="0" err="1"/>
              <a:t>CourseID</a:t>
            </a:r>
            <a:r>
              <a:rPr lang="en-US" dirty="0"/>
              <a:t> PK/FK, Grade)</a:t>
            </a:r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Many-to-many relationships DO NOT EXIST in relational schemas.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7D72BA-FC26-F5CE-34E5-406C3DA47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8792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50186-7A00-EDEA-6523-6E6028CB8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7B4F8-7318-176B-2072-C3518CF1A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Multivalued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1859A-482C-1589-E681-D1F3AD44C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Multivalued attributes become separate relations.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STUDENT_PHONE(</a:t>
            </a:r>
            <a:r>
              <a:rPr lang="en-US" dirty="0" err="1"/>
              <a:t>StudentID</a:t>
            </a:r>
            <a:r>
              <a:rPr lang="en-US" dirty="0"/>
              <a:t> PK/FK, </a:t>
            </a:r>
            <a:r>
              <a:rPr lang="en-US" dirty="0" err="1"/>
              <a:t>PhoneNumber</a:t>
            </a:r>
            <a:r>
              <a:rPr lang="en-US" dirty="0"/>
              <a:t> PK)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Repeating values violate the relational model.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05182E-D62A-EB44-C710-F670F2CABA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296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6F4CB4-C714-E41D-916C-9E7559A9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Lucida Calligraphy" panose="03010101010101010101" pitchFamily="66" charset="0"/>
              </a:rPr>
              <a:t>finito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5B317C-BE80-FCB8-EB77-5E49DC21E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934" y="230188"/>
            <a:ext cx="1460334" cy="6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06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852</Words>
  <Application>Microsoft Office PowerPoint</Application>
  <PresentationFormat>Widescreen</PresentationFormat>
  <Paragraphs>173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Lucida Calligraphy</vt:lpstr>
      <vt:lpstr>Wingdings</vt:lpstr>
      <vt:lpstr>Office Theme</vt:lpstr>
      <vt:lpstr>CS3700 Intro to Database &amp; Modelling– Week 3 </vt:lpstr>
      <vt:lpstr>Generalization &amp; Specialization</vt:lpstr>
      <vt:lpstr>Superclass &amp; Subclass</vt:lpstr>
      <vt:lpstr>Generalization</vt:lpstr>
      <vt:lpstr>Generalization</vt:lpstr>
      <vt:lpstr>Specialization</vt:lpstr>
      <vt:lpstr>Specialization</vt:lpstr>
      <vt:lpstr>Specialization Constraints</vt:lpstr>
      <vt:lpstr>Specialization Constraints</vt:lpstr>
      <vt:lpstr>Specialization Constraints</vt:lpstr>
      <vt:lpstr>Specialization Constraints</vt:lpstr>
      <vt:lpstr>What is the Relational Data Model?</vt:lpstr>
      <vt:lpstr>Schema vs Instance</vt:lpstr>
      <vt:lpstr>Keys in Relational Schemas</vt:lpstr>
      <vt:lpstr>Integrity Constraints</vt:lpstr>
      <vt:lpstr>Mapping Strong Entities</vt:lpstr>
      <vt:lpstr>Mapping Weak Entities</vt:lpstr>
      <vt:lpstr>Mapping Relationships</vt:lpstr>
      <vt:lpstr>Mapping Relationships</vt:lpstr>
      <vt:lpstr>Mapping Relationships</vt:lpstr>
      <vt:lpstr>Mapping Multivalued Attributes</vt:lpstr>
      <vt:lpstr>finito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Joshi, Bibek Raj</dc:creator>
  <cp:lastModifiedBy>Joshi, Bibek Raj</cp:lastModifiedBy>
  <cp:revision>16</cp:revision>
  <dcterms:created xsi:type="dcterms:W3CDTF">2026-01-14T05:30:02Z</dcterms:created>
  <dcterms:modified xsi:type="dcterms:W3CDTF">2026-09-11T15:25:51Z</dcterms:modified>
</cp:coreProperties>
</file>