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6" r:id="rId3"/>
    <p:sldId id="297" r:id="rId4"/>
    <p:sldId id="298" r:id="rId5"/>
    <p:sldId id="299" r:id="rId6"/>
    <p:sldId id="300" r:id="rId7"/>
    <p:sldId id="301" r:id="rId8"/>
    <p:sldId id="304" r:id="rId9"/>
    <p:sldId id="302" r:id="rId10"/>
    <p:sldId id="303" r:id="rId11"/>
    <p:sldId id="30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9925-0EA6-02DD-25CC-C2E68921D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7B7E8-71E8-4363-F399-9F39B3473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B9A6E-D967-2636-106F-A5314E0C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B7062-0E12-A5A2-34DB-32B1D0D1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DEE58-0812-AFB9-8B25-0F1D3BA3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68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4BF2-A987-99B5-2698-3F76FABA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031C3-5259-4DBB-4CE0-28661CBAD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3B217-240D-82B9-9AF1-0660C9D0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312DA-0D6C-05E1-B85E-FEBE1A6F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67F7B-720E-B4FA-3BC7-3CE57923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9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E3A5-BBF7-2325-F4CE-6087E6C5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8FD1A-B2FF-50AD-6AB9-B3ABC614F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5D20B-2B81-FAF0-C7CC-1876A8E2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C76A8-58E1-60CF-E935-D66EBF8C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468F2-11CD-D04D-EC12-9893BD4E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3BFD-6808-B652-4C05-ACF2FA1E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4AC45-D23B-03C0-308F-E74A84298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C5414-FDD3-C011-6380-8CF89CB04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331C0-C33D-B269-CE32-BD67BF1EC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BFEBF-61DF-B907-FBA7-114D92514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5C76D-9485-B4ED-1BB1-16FB7760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3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646A-1C39-5217-C2A2-E76C8AE95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C663E-3B4B-125D-0D76-796F6F108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8176B-E80F-96D3-383C-D4148820E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181FE-10D9-35B0-B442-A11BF79FF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A8CA4-E8BE-5E7C-BEB5-7A23B7F1C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093B0F-BE15-0A32-645B-9D06B478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4B8E6-A27A-C7EA-F407-359B027C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2E21BA-963A-23EB-3227-79CADDF1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8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0AB0-E8A7-1EA8-E983-0E548A24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DD5C97-577C-2C7B-B79B-B1E1928C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5660D-07BA-6854-E5C3-A62F9DB6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F6ECB-0576-8D51-BED7-23BD01DF6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0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AD0BB-C66D-CBE7-90AE-4E86702F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6B7D5-9CAC-2BB9-D364-45F9B84D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03F97-4767-ADE1-D2F2-879D35C9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5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A1B0F-D169-E0F2-F04F-F8C5DC4FE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7805-17F9-AA02-41B1-6F08885D6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A02C3-116C-A475-5677-3B259AC3C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696A7-F849-5E6A-217D-716653DB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8BCA1-5AC9-11E6-F9A7-31841F87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257BC-E0F0-7ECB-6971-263E3DA1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E31A-1024-415C-D9B5-FCDE4D6A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5AB50-9A41-5189-CEDD-54DADDAFE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3D5F7-9038-F085-DDF0-9A8DF943B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903F9-DD77-5BD4-67D6-BC92F157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3562E-E2EF-178C-84B7-1A29BC526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43BBC-7AAA-2BAB-3350-88FA8650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9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2E922-BE74-FC5B-6FE9-798BF440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09CA1-1364-4F9B-3C40-808CAC8CC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FC67A-62EE-5B47-4C90-FDB91374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29FC1-94CE-F9E0-072F-0175E5AA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561EA-8E48-6F1C-6750-934F2ABF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3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08D5C-C0F6-D4A1-78D3-F78B15AC0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2B132-704A-90E1-12A9-A6C660B16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C7C39-3B44-F9C5-4566-BE621C8D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847AF-1132-0627-51B8-3AAA187C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541D-D7CA-DEE2-C9F6-A8C2F89B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41BFDB-A5C7-FBEF-6726-A9CB9AD29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B5DCB-F7B8-1296-B130-E1A21585D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9758A-E657-F11C-7C19-109A790C3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FA79F-CAA4-4BA3-94B9-0C35896CE18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A3DD7-2942-E5AE-C41E-BBAAD616A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C0884-5E6F-4CC1-9478-9F15EEC6A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43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52B1-1347-21A0-4603-5CDDEF3948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CS3700 Intro to Database &amp; Modelling– Week 4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00A91-7FC9-E396-71A3-4A57DD09A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94265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Functional Dependency and Data Integrity</a:t>
            </a:r>
          </a:p>
          <a:p>
            <a:r>
              <a:rPr lang="en-US" dirty="0"/>
              <a:t>Bibek Raj Joshi</a:t>
            </a:r>
          </a:p>
          <a:p>
            <a:r>
              <a:rPr lang="en-US"/>
              <a:t>Fall </a:t>
            </a:r>
            <a:r>
              <a:rPr lang="en-US" dirty="0"/>
              <a:t>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3D876-CD84-6E0D-1C36-9605C7831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665" y="4952299"/>
            <a:ext cx="3310135" cy="156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88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50186-7A00-EDEA-6523-6E6028CB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B4F8-7318-176B-2072-C3518CF1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Dependency?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1859A-482C-1589-E681-D1F3AD44C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dependency is a rule of the real world, not a property of the table</a:t>
            </a:r>
          </a:p>
          <a:p>
            <a:r>
              <a:rPr lang="en-US" dirty="0"/>
              <a:t>Table </a:t>
            </a:r>
            <a:r>
              <a:rPr lang="en-US" i="1" dirty="0"/>
              <a:t>store</a:t>
            </a:r>
            <a:r>
              <a:rPr lang="en-US" dirty="0"/>
              <a:t> data; dependencies </a:t>
            </a:r>
            <a:r>
              <a:rPr lang="en-US" i="1" dirty="0"/>
              <a:t>explain</a:t>
            </a:r>
            <a:r>
              <a:rPr lang="en-US" dirty="0"/>
              <a:t> data.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For a given X, there is exactly one Y</a:t>
            </a:r>
          </a:p>
          <a:p>
            <a:pPr lvl="1"/>
            <a:r>
              <a:rPr lang="en-US" dirty="0"/>
              <a:t>For a given </a:t>
            </a:r>
            <a:r>
              <a:rPr lang="en-US" dirty="0" err="1"/>
              <a:t>student_id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Exactly One email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For a given major  exactly one department office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For a given </a:t>
            </a:r>
            <a:r>
              <a:rPr lang="en-US" dirty="0" err="1">
                <a:sym typeface="Wingdings" panose="05000000000000000000" pitchFamily="2" charset="2"/>
              </a:rPr>
              <a:t>student_name</a:t>
            </a:r>
            <a:r>
              <a:rPr lang="en-US" dirty="0">
                <a:sym typeface="Wingdings" panose="05000000000000000000" pitchFamily="2" charset="2"/>
              </a:rPr>
              <a:t>  exactly one </a:t>
            </a:r>
            <a:r>
              <a:rPr lang="en-US" dirty="0" err="1">
                <a:sym typeface="Wingdings" panose="05000000000000000000" pitchFamily="2" charset="2"/>
              </a:rPr>
              <a:t>student_id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05182E-D62A-EB44-C710-F670F2CAB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96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49DF-63DD-902A-8469-EC76F700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Determinant and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17CB4-16F0-43E8-93BF-C011CE5B6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attribute (or set) that determines another</a:t>
            </a:r>
          </a:p>
          <a:p>
            <a:r>
              <a:rPr lang="en-US" dirty="0"/>
              <a:t>Example: </a:t>
            </a:r>
            <a:r>
              <a:rPr lang="en-US" dirty="0" err="1"/>
              <a:t>student_id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sz="3200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student_name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>
                <a:sym typeface="Wingdings" panose="05000000000000000000" pitchFamily="2" charset="2"/>
              </a:rPr>
              <a:t>Here, </a:t>
            </a:r>
            <a:r>
              <a:rPr lang="en-US" dirty="0" err="1">
                <a:sym typeface="Wingdings" panose="05000000000000000000" pitchFamily="2" charset="2"/>
              </a:rPr>
              <a:t>student_id</a:t>
            </a:r>
            <a:r>
              <a:rPr lang="en-US" dirty="0">
                <a:sym typeface="Wingdings" panose="05000000000000000000" pitchFamily="2" charset="2"/>
              </a:rPr>
              <a:t> is the determinant</a:t>
            </a:r>
          </a:p>
          <a:p>
            <a:r>
              <a:rPr lang="en-US" dirty="0">
                <a:sym typeface="Wingdings" panose="05000000000000000000" pitchFamily="2" charset="2"/>
              </a:rPr>
              <a:t>Keys are special determinants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Primary keys are just determinants that determine everything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However, this doesn’t mean everything belongs together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85E6FF-CADC-A41A-7A9D-09A6065B0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80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DC78C-51FC-C344-4F00-7516F5A9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E902B-CAA8-6257-1AC4-41A1E196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facts vs Relationship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E104-8C38-98EB-FE14-152DAF48F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entity fact describes single real-world object, independent of any relationships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Student(</a:t>
            </a:r>
            <a:r>
              <a:rPr lang="en-US" dirty="0" err="1"/>
              <a:t>student_id</a:t>
            </a:r>
            <a:r>
              <a:rPr lang="en-US" dirty="0"/>
              <a:t>, name, email, major, </a:t>
            </a:r>
            <a:r>
              <a:rPr lang="en-US" dirty="0" err="1"/>
              <a:t>date_of_birth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These belong to student</a:t>
            </a:r>
          </a:p>
          <a:p>
            <a:pPr lvl="2"/>
            <a:r>
              <a:rPr lang="en-US" dirty="0"/>
              <a:t>Do not depend on other relationships/tables like courses, grade, or enrollment</a:t>
            </a:r>
          </a:p>
          <a:p>
            <a:pPr lvl="2"/>
            <a:r>
              <a:rPr lang="en-US" dirty="0"/>
              <a:t>Should appear once per student</a:t>
            </a:r>
          </a:p>
          <a:p>
            <a:pPr lvl="1"/>
            <a:r>
              <a:rPr lang="en-US" dirty="0"/>
              <a:t>Student(</a:t>
            </a:r>
            <a:r>
              <a:rPr lang="en-US" dirty="0" err="1"/>
              <a:t>course_id</a:t>
            </a:r>
            <a:r>
              <a:rPr lang="en-US" dirty="0"/>
              <a:t>, </a:t>
            </a:r>
            <a:r>
              <a:rPr lang="en-US" dirty="0" err="1"/>
              <a:t>course_name</a:t>
            </a:r>
            <a:r>
              <a:rPr lang="en-US" dirty="0"/>
              <a:t>, credits, department)</a:t>
            </a:r>
          </a:p>
          <a:p>
            <a:pPr lvl="2"/>
            <a:r>
              <a:rPr lang="en-US" dirty="0"/>
              <a:t>Exists even if no student enroll</a:t>
            </a:r>
          </a:p>
          <a:p>
            <a:pPr lvl="2"/>
            <a:r>
              <a:rPr lang="en-US" dirty="0"/>
              <a:t>Has properties independent of student</a:t>
            </a:r>
          </a:p>
          <a:p>
            <a:r>
              <a:rPr lang="en-US" dirty="0"/>
              <a:t>The question to ask: If this entity existed by itself, would the attribute still make sense?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F7E389-9562-5AF2-5E63-A0BC62F0F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94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F1FC0-33F0-E6FF-45FA-85E8A31A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6A69-B870-320E-B323-FA771365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facts vs Relationship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76D65-62B7-90F0-7B33-1B0A93636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relationship fact describes how two(or more) entities interact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Enrollment(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, grade, </a:t>
            </a:r>
            <a:r>
              <a:rPr lang="en-US" dirty="0" err="1"/>
              <a:t>enrollment_date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grade does not belong to the student alone</a:t>
            </a:r>
          </a:p>
          <a:p>
            <a:pPr lvl="2"/>
            <a:r>
              <a:rPr lang="en-US" dirty="0"/>
              <a:t>grade also does not belong to the course alone</a:t>
            </a:r>
          </a:p>
          <a:p>
            <a:pPr lvl="2"/>
            <a:r>
              <a:rPr lang="en-US" dirty="0"/>
              <a:t>It belongs to the student </a:t>
            </a:r>
            <a:r>
              <a:rPr lang="en-US" b="1" dirty="0"/>
              <a:t>in the </a:t>
            </a:r>
            <a:r>
              <a:rPr lang="en-US" dirty="0"/>
              <a:t>course.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4E9724-1445-6DAE-70BA-BE1A3B71D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83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B3247-F72E-67E6-3635-7C8C0A2C3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common mistake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AF762-3A16-445D-47B9-DA5F6B957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Enrollment(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student_name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, </a:t>
            </a:r>
            <a:r>
              <a:rPr lang="en-US" dirty="0" err="1"/>
              <a:t>course_name</a:t>
            </a:r>
            <a:r>
              <a:rPr lang="en-US" dirty="0"/>
              <a:t>, grade)</a:t>
            </a:r>
          </a:p>
          <a:p>
            <a:pPr lvl="1"/>
            <a:r>
              <a:rPr lang="en-US" dirty="0"/>
              <a:t>Does </a:t>
            </a:r>
            <a:r>
              <a:rPr lang="en-US" dirty="0" err="1"/>
              <a:t>student_name</a:t>
            </a:r>
            <a:r>
              <a:rPr lang="en-US" dirty="0"/>
              <a:t> describe a student or an enrollment?</a:t>
            </a:r>
          </a:p>
          <a:p>
            <a:pPr lvl="1"/>
            <a:r>
              <a:rPr lang="en-US" dirty="0"/>
              <a:t>Does </a:t>
            </a:r>
            <a:r>
              <a:rPr lang="en-US" dirty="0" err="1"/>
              <a:t>course_name</a:t>
            </a:r>
            <a:r>
              <a:rPr lang="en-US" dirty="0"/>
              <a:t> describe a course or an enrollment?</a:t>
            </a:r>
          </a:p>
          <a:p>
            <a:pPr lvl="1"/>
            <a:r>
              <a:rPr lang="en-US" dirty="0"/>
              <a:t>Does grade describe a student, course or both together?</a:t>
            </a:r>
          </a:p>
          <a:p>
            <a:r>
              <a:rPr lang="en-US" dirty="0"/>
              <a:t>A good general rule of thumb: if the value is same across many rows, it probably doesn’t belong there.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7A4232-C77D-098A-DBFB-88DB03463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6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8CDB-C943-562D-0CC8-139DFAACF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vs Partial 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2492C-AC83-2107-87C1-AAB2AE3B0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Composite Key</a:t>
            </a:r>
          </a:p>
          <a:p>
            <a:pPr lvl="1"/>
            <a:r>
              <a:rPr lang="en-US" dirty="0"/>
              <a:t>A composite key consists of more than one attribute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Used to uniquely identify relationship records.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5BA2B-1D92-5A8D-B545-C7B0C38C1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74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FB0B9-A1D3-92F9-BD80-567643D88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DBA98-0BA8-91E0-AEF0-54C76C7E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vs Partial 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CA2BB-24A4-769E-9ED4-7C545308D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Functional Dependency</a:t>
            </a:r>
          </a:p>
          <a:p>
            <a:pPr lvl="1"/>
            <a:r>
              <a:rPr lang="en-US" dirty="0"/>
              <a:t>An attribute is fully functionally dependent if it depends on the entire composite key</a:t>
            </a:r>
          </a:p>
          <a:p>
            <a:pPr lvl="1"/>
            <a:r>
              <a:rPr lang="en-US" dirty="0"/>
              <a:t>Removing any part of the key makes the value unknown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 err="1"/>
              <a:t>CourseResult</a:t>
            </a:r>
            <a:r>
              <a:rPr lang="en-US" dirty="0"/>
              <a:t>(</a:t>
            </a:r>
            <a:r>
              <a:rPr lang="en-US" dirty="0" err="1"/>
              <a:t>student_id</a:t>
            </a:r>
            <a:r>
              <a:rPr lang="en-US" dirty="0"/>
              <a:t>, _id, grade)</a:t>
            </a:r>
          </a:p>
          <a:p>
            <a:pPr lvl="1"/>
            <a:r>
              <a:rPr lang="en-US" dirty="0"/>
              <a:t>You can test if its full functional dependency by removing the part of the key. If the value cannot be determined </a:t>
            </a:r>
            <a:r>
              <a:rPr lang="en-US" dirty="0">
                <a:sym typeface="Wingdings" panose="05000000000000000000" pitchFamily="2" charset="2"/>
              </a:rPr>
              <a:t> Full dependency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7B5773-9A5E-2BD0-6A1D-E0F9F20D2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36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0D82C-ECE2-B359-99C6-51210560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vs Partial 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09A9E-5374-E63F-603B-BC4D4B656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Partial Functional Dependency</a:t>
            </a:r>
          </a:p>
          <a:p>
            <a:pPr lvl="1"/>
            <a:r>
              <a:rPr lang="en-US" dirty="0"/>
              <a:t>An attribute is partial dependent if it depends on only part of a composite key. </a:t>
            </a:r>
          </a:p>
          <a:p>
            <a:pPr lvl="1"/>
            <a:r>
              <a:rPr lang="en-US" dirty="0"/>
              <a:t>It doesn’t need the full identifier.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 err="1"/>
              <a:t>CourseResults</a:t>
            </a:r>
            <a:r>
              <a:rPr lang="en-US" dirty="0"/>
              <a:t>((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), </a:t>
            </a:r>
            <a:r>
              <a:rPr lang="en-US" dirty="0" err="1"/>
              <a:t>student_name</a:t>
            </a:r>
            <a:r>
              <a:rPr lang="en-US" dirty="0"/>
              <a:t>, </a:t>
            </a:r>
            <a:r>
              <a:rPr lang="en-US" dirty="0" err="1"/>
              <a:t>course_name</a:t>
            </a:r>
            <a:r>
              <a:rPr lang="en-US" dirty="0"/>
              <a:t>, grade)</a:t>
            </a:r>
          </a:p>
          <a:p>
            <a:pPr lvl="2"/>
            <a:r>
              <a:rPr lang="en-US" dirty="0" err="1"/>
              <a:t>student_id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student_name</a:t>
            </a:r>
            <a:endParaRPr lang="en-US" dirty="0"/>
          </a:p>
          <a:p>
            <a:pPr lvl="2"/>
            <a:r>
              <a:rPr lang="en-US" dirty="0" err="1"/>
              <a:t>course_id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course_name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Why is this a problem?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CD228-CD1F-F1A9-81E4-738FEA6AB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898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C726-036F-FB2A-A4EC-6057DC4B5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vs Partial 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DE27E-BB2E-6896-F6C4-D93289E56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student_name</a:t>
            </a:r>
            <a:r>
              <a:rPr lang="en-US" dirty="0"/>
              <a:t> does not depend on </a:t>
            </a:r>
            <a:r>
              <a:rPr lang="en-US" dirty="0" err="1"/>
              <a:t>course_id</a:t>
            </a:r>
            <a:endParaRPr lang="en-US" dirty="0"/>
          </a:p>
          <a:p>
            <a:r>
              <a:rPr lang="en-US" dirty="0" err="1"/>
              <a:t>course_name</a:t>
            </a:r>
            <a:r>
              <a:rPr lang="en-US" dirty="0"/>
              <a:t> does not depend on </a:t>
            </a:r>
            <a:r>
              <a:rPr lang="en-US" dirty="0" err="1"/>
              <a:t>student_id</a:t>
            </a:r>
            <a:endParaRPr lang="en-US" dirty="0"/>
          </a:p>
          <a:p>
            <a:r>
              <a:rPr lang="en-US" dirty="0"/>
              <a:t>The attributes do not describe the relationship. </a:t>
            </a:r>
          </a:p>
          <a:p>
            <a:r>
              <a:rPr lang="en-US" dirty="0"/>
              <a:t>If the value is still known after removing the part of the key </a:t>
            </a:r>
            <a:r>
              <a:rPr lang="en-US" dirty="0">
                <a:sym typeface="Wingdings" panose="05000000000000000000" pitchFamily="2" charset="2"/>
              </a:rPr>
              <a:t> partial dependency</a:t>
            </a:r>
          </a:p>
          <a:p>
            <a:r>
              <a:rPr lang="en-US" dirty="0">
                <a:sym typeface="Wingdings" panose="05000000000000000000" pitchFamily="2" charset="2"/>
              </a:rPr>
              <a:t>Partial dependent attributes belong in the entity tables.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A63DFC-DB1A-4B70-8F78-D77911D9E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00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2FB48-37AF-463A-FACC-219034F77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7A292-7A34-A087-9EC4-9007D487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StudentCourse</a:t>
            </a:r>
            <a:r>
              <a:rPr lang="en-US" dirty="0"/>
              <a:t>(</a:t>
            </a:r>
          </a:p>
          <a:p>
            <a:pPr marL="457200" lvl="1" indent="0">
              <a:buNone/>
            </a:pPr>
            <a:r>
              <a:rPr lang="en-US" dirty="0" err="1"/>
              <a:t>Student_id</a:t>
            </a:r>
            <a:r>
              <a:rPr lang="en-US" dirty="0"/>
              <a:t>, </a:t>
            </a:r>
          </a:p>
          <a:p>
            <a:pPr marL="457200" lvl="1" indent="0">
              <a:buNone/>
            </a:pPr>
            <a:r>
              <a:rPr lang="en-US" dirty="0" err="1"/>
              <a:t>Student_name</a:t>
            </a:r>
            <a:r>
              <a:rPr lang="en-US" dirty="0"/>
              <a:t>,</a:t>
            </a:r>
          </a:p>
          <a:p>
            <a:pPr marL="457200" lvl="1" indent="0">
              <a:buNone/>
            </a:pPr>
            <a:r>
              <a:rPr lang="en-US" dirty="0" err="1"/>
              <a:t>Course_id</a:t>
            </a:r>
            <a:r>
              <a:rPr lang="en-US" dirty="0"/>
              <a:t>, </a:t>
            </a:r>
          </a:p>
          <a:p>
            <a:pPr marL="457200" lvl="1" indent="0">
              <a:buNone/>
            </a:pPr>
            <a:r>
              <a:rPr lang="en-US" dirty="0" err="1"/>
              <a:t>course_name</a:t>
            </a:r>
            <a:r>
              <a:rPr lang="en-US" dirty="0"/>
              <a:t>,</a:t>
            </a:r>
          </a:p>
          <a:p>
            <a:pPr marL="457200" lvl="1" indent="0">
              <a:buNone/>
            </a:pPr>
            <a:r>
              <a:rPr lang="en-US" dirty="0"/>
              <a:t>Instructor,</a:t>
            </a:r>
          </a:p>
          <a:p>
            <a:pPr marL="457200" lvl="1" indent="0">
              <a:buNone/>
            </a:pPr>
            <a:r>
              <a:rPr lang="en-US" dirty="0"/>
              <a:t>grade</a:t>
            </a:r>
          </a:p>
          <a:p>
            <a:pPr marL="457200" lvl="1" indent="0">
              <a:buNone/>
            </a:pP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How many entities can you break this down into?</a:t>
            </a:r>
          </a:p>
          <a:p>
            <a:pPr marL="457200" lvl="1" indent="0">
              <a:buNone/>
            </a:pPr>
            <a:r>
              <a:rPr lang="en-US" dirty="0"/>
              <a:t>Can you identify the composite key? And what attribute strictly relies on the composite key?(Full Functional Dependency)</a:t>
            </a:r>
          </a:p>
          <a:p>
            <a:pPr marL="457200" lvl="1" indent="0">
              <a:buNone/>
            </a:pPr>
            <a:r>
              <a:rPr lang="en-US" dirty="0"/>
              <a:t>Can you identify the partial functional dependency?</a:t>
            </a:r>
          </a:p>
        </p:txBody>
      </p:sp>
    </p:spTree>
    <p:extLst>
      <p:ext uri="{BB962C8B-B14F-4D97-AF65-F5344CB8AC3E}">
        <p14:creationId xmlns:p14="http://schemas.microsoft.com/office/powerpoint/2010/main" val="3449559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F4CB4-C714-E41D-916C-9E7559A9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Lucida Calligraphy" panose="03010101010101010101" pitchFamily="66" charset="0"/>
              </a:rPr>
              <a:t>finito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5B317C-BE80-FCB8-EB77-5E49DC21E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6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683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Lucida Calligraphy</vt:lpstr>
      <vt:lpstr>Wingdings</vt:lpstr>
      <vt:lpstr>Office Theme</vt:lpstr>
      <vt:lpstr>CS3700 Intro to Database &amp; Modelling– Week 4 </vt:lpstr>
      <vt:lpstr>What is a Dependency?</vt:lpstr>
      <vt:lpstr>Determinant and Keys</vt:lpstr>
      <vt:lpstr>Entity facts vs Relationship facts</vt:lpstr>
      <vt:lpstr>Entity facts vs Relationship facts</vt:lpstr>
      <vt:lpstr>The common mistake</vt:lpstr>
      <vt:lpstr>Full vs Partial Dependency</vt:lpstr>
      <vt:lpstr>Full vs Partial Dependency</vt:lpstr>
      <vt:lpstr>Full vs Partial Dependency</vt:lpstr>
      <vt:lpstr>Full vs Partial Dependency</vt:lpstr>
      <vt:lpstr>In Class Activity</vt:lpstr>
      <vt:lpstr>finito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Joshi, Bibek Raj</dc:creator>
  <cp:lastModifiedBy>Joshi, Bibek Raj</cp:lastModifiedBy>
  <cp:revision>20</cp:revision>
  <dcterms:created xsi:type="dcterms:W3CDTF">2026-01-14T05:30:02Z</dcterms:created>
  <dcterms:modified xsi:type="dcterms:W3CDTF">2026-09-18T14:52:17Z</dcterms:modified>
</cp:coreProperties>
</file>