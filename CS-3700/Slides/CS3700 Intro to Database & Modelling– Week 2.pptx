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7" r:id="rId18"/>
    <p:sldId id="278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CS3700 Intro to Database &amp; Modelling– </a:t>
            </a:r>
            <a:r>
              <a:rPr lang="en-US"/>
              <a:t>Week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Conceptual Data Modeling: ER Fundamentals</a:t>
            </a:r>
          </a:p>
          <a:p>
            <a:r>
              <a:rPr lang="en-US" dirty="0"/>
              <a:t>Bibek Raj Joshi</a:t>
            </a:r>
          </a:p>
          <a:p>
            <a:r>
              <a:rPr lang="en-US" dirty="0"/>
              <a:t>Fall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A8A5-7C8E-CDBC-28B3-A12D03BE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Modelling?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3A18-F072-DCB8-B834-33478029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database is a model of the real world. </a:t>
            </a:r>
          </a:p>
          <a:p>
            <a:r>
              <a:rPr lang="en-US" sz="2000" dirty="0"/>
              <a:t>Before tables </a:t>
            </a:r>
            <a:r>
              <a:rPr lang="en-US" sz="2000" dirty="0">
                <a:sym typeface="Wingdings" panose="05000000000000000000" pitchFamily="2" charset="2"/>
              </a:rPr>
              <a:t> We must design</a:t>
            </a:r>
          </a:p>
          <a:p>
            <a:r>
              <a:rPr lang="en-US" sz="2000" dirty="0">
                <a:sym typeface="Wingdings" panose="05000000000000000000" pitchFamily="2" charset="2"/>
              </a:rPr>
              <a:t>Before SQL  we must understand the structure</a:t>
            </a:r>
          </a:p>
          <a:p>
            <a:r>
              <a:rPr lang="en-US" sz="2000" dirty="0">
                <a:sym typeface="Wingdings" panose="05000000000000000000" pitchFamily="2" charset="2"/>
              </a:rPr>
              <a:t>Bad design causes: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Redundancy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Inconsistencies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Anomalies 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Unfixable schema mistakes</a:t>
            </a:r>
            <a:endParaRPr lang="en-US" sz="1800" dirty="0"/>
          </a:p>
          <a:p>
            <a:pPr lvl="2"/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D5C7B-1116-FDC6-1C4F-2DD1939C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A887-E2C8-C815-32FB-F081C25C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7392-3013-67E6-A09A-4EF321D1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ER Modeling 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5BCE3-C4E1-29DB-CB9A-1380B48A8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98AFC-CFEC-6496-8EBB-7E6B72F6E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E0B45-2FAA-351F-C56B-5AA4084BD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60269"/>
              </p:ext>
            </p:extLst>
          </p:nvPr>
        </p:nvGraphicFramePr>
        <p:xfrm>
          <a:off x="3354773" y="2286000"/>
          <a:ext cx="4064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40513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 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87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Requirement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95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 Model (Conceptual Design)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78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Relational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3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16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SQL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6450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218ACA-FBD5-972A-846F-BA0DE6ADFEEB}"/>
              </a:ext>
            </a:extLst>
          </p:cNvPr>
          <p:cNvCxnSpPr/>
          <p:nvPr/>
        </p:nvCxnSpPr>
        <p:spPr>
          <a:xfrm>
            <a:off x="2991775" y="2314852"/>
            <a:ext cx="0" cy="2228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DA0868-1678-DDA7-1E4C-A7B55D9F635A}"/>
              </a:ext>
            </a:extLst>
          </p:cNvPr>
          <p:cNvCxnSpPr/>
          <p:nvPr/>
        </p:nvCxnSpPr>
        <p:spPr>
          <a:xfrm flipH="1">
            <a:off x="6569476" y="3213719"/>
            <a:ext cx="19353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4ED781-A14D-A758-6CF9-DCA208EA8785}"/>
              </a:ext>
            </a:extLst>
          </p:cNvPr>
          <p:cNvSpPr txBox="1"/>
          <p:nvPr/>
        </p:nvSpPr>
        <p:spPr>
          <a:xfrm>
            <a:off x="8735627" y="3018408"/>
            <a:ext cx="228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We’re here</a:t>
            </a:r>
          </a:p>
        </p:txBody>
      </p:sp>
    </p:spTree>
    <p:extLst>
      <p:ext uri="{BB962C8B-B14F-4D97-AF65-F5344CB8AC3E}">
        <p14:creationId xmlns:p14="http://schemas.microsoft.com/office/powerpoint/2010/main" val="331858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F5200-9606-C151-100B-1C52A098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2B88D-4A18-F67F-C034-808AA6A0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the ER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B741-D2C5-4548-8A96-50FC71649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Entity-Relationship (ER) Model is a high-level conceptual data model used to describe:</a:t>
            </a:r>
          </a:p>
          <a:p>
            <a:pPr lvl="1"/>
            <a:r>
              <a:rPr lang="en-US" sz="1600" dirty="0"/>
              <a:t>Data Structure</a:t>
            </a:r>
          </a:p>
          <a:p>
            <a:pPr lvl="1"/>
            <a:r>
              <a:rPr lang="en-US" sz="1600" dirty="0"/>
              <a:t>Relationships</a:t>
            </a:r>
          </a:p>
          <a:p>
            <a:pPr lvl="1"/>
            <a:r>
              <a:rPr lang="en-US" sz="1600" dirty="0"/>
              <a:t>Constraints</a:t>
            </a:r>
          </a:p>
          <a:p>
            <a:r>
              <a:rPr lang="en-US" sz="2000" dirty="0"/>
              <a:t>It is always:</a:t>
            </a:r>
          </a:p>
          <a:p>
            <a:pPr lvl="1"/>
            <a:r>
              <a:rPr lang="en-US" sz="1600" dirty="0"/>
              <a:t>Independent of DBMS</a:t>
            </a:r>
          </a:p>
          <a:p>
            <a:pPr lvl="1"/>
            <a:r>
              <a:rPr lang="en-US" sz="1600" dirty="0"/>
              <a:t>Independent of storage</a:t>
            </a:r>
          </a:p>
          <a:p>
            <a:pPr lvl="1"/>
            <a:r>
              <a:rPr lang="en-US" sz="1600" dirty="0"/>
              <a:t>Independent of SQL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A06D9-A8F4-77A2-4781-F2705D21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B15F8-9150-1281-6ADE-5D199A6C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56A14-707B-AFB8-D590-FA022AA9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Basic ER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8F209-6EDA-267A-1CF6-5DEF44C55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Three core building blocks:</a:t>
            </a:r>
          </a:p>
          <a:p>
            <a:pPr lvl="1"/>
            <a:r>
              <a:rPr lang="en-US" sz="2000" dirty="0"/>
              <a:t>Entity</a:t>
            </a:r>
          </a:p>
          <a:p>
            <a:pPr lvl="1"/>
            <a:r>
              <a:rPr lang="en-US" sz="2000" dirty="0"/>
              <a:t>Attribute</a:t>
            </a:r>
          </a:p>
          <a:p>
            <a:pPr lvl="1"/>
            <a:r>
              <a:rPr lang="en-US" sz="2000" dirty="0"/>
              <a:t>Relationships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47DD5-7EB6-A743-BBEB-C7425EDD0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58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3B352-F8C6-01D7-5B59-070EBED6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F22CC-531B-F7E7-D0BB-5215AA1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an Entity?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295C-473C-0DE9-28AF-B2DBAC09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An entity is a real-world object or concept that can be uniquely identified.</a:t>
            </a:r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1600" dirty="0"/>
              <a:t>Student</a:t>
            </a:r>
          </a:p>
          <a:p>
            <a:pPr lvl="1"/>
            <a:r>
              <a:rPr lang="en-US" sz="1600" dirty="0"/>
              <a:t>Course</a:t>
            </a:r>
          </a:p>
          <a:p>
            <a:pPr lvl="1"/>
            <a:r>
              <a:rPr lang="en-US" sz="1600" dirty="0"/>
              <a:t>Instructor</a:t>
            </a:r>
          </a:p>
          <a:p>
            <a:pPr lvl="1"/>
            <a:r>
              <a:rPr lang="en-US" sz="1600" dirty="0"/>
              <a:t>Department</a:t>
            </a:r>
          </a:p>
          <a:p>
            <a:pPr lvl="1"/>
            <a:r>
              <a:rPr lang="en-US" sz="1600" dirty="0"/>
              <a:t>Book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864BB-F362-39E6-F217-540BFFDA0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7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8B0C-9173-2F5D-F35D-DBD0C7F2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A329F-EB0B-E245-6999-22FAC482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Entity Type vs Entity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465CF-736C-1A3C-34EF-9E2824CE0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1"/>
            <a:r>
              <a:rPr lang="en-US" sz="2000" dirty="0"/>
              <a:t>Entity type: STUDENT</a:t>
            </a:r>
          </a:p>
          <a:p>
            <a:pPr lvl="1"/>
            <a:r>
              <a:rPr lang="en-US" sz="2000" dirty="0"/>
              <a:t>Entity instance: “Aang”, “Katara”, “Bumi”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ER diagrams describe entity types and NOT individual rows.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23C3B-A46B-CEF0-58E8-3A1470A64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6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F94DA-3EFA-C60F-F95D-E5A9ADBA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A1F4D-BF97-9662-46FE-5BBBC948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an Attribute?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544D-4BE8-5BB8-2172-5BC49422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2"/>
            <a:r>
              <a:rPr lang="en-US" dirty="0"/>
              <a:t>An attribute is a property or characteristic of an entity.</a:t>
            </a:r>
          </a:p>
          <a:p>
            <a:pPr lvl="2"/>
            <a:r>
              <a:rPr lang="en-US" dirty="0"/>
              <a:t>Example:</a:t>
            </a:r>
          </a:p>
          <a:p>
            <a:pPr marL="1371600" lvl="3" indent="0">
              <a:buNone/>
            </a:pPr>
            <a:r>
              <a:rPr lang="en-US" dirty="0"/>
              <a:t>Student</a:t>
            </a:r>
          </a:p>
          <a:p>
            <a:pPr lvl="3">
              <a:buFontTx/>
              <a:buChar char="-"/>
            </a:pPr>
            <a:r>
              <a:rPr lang="en-US" dirty="0" err="1"/>
              <a:t>StudentID</a:t>
            </a:r>
            <a:endParaRPr lang="en-US" dirty="0"/>
          </a:p>
          <a:p>
            <a:pPr lvl="3">
              <a:buFontTx/>
              <a:buChar char="-"/>
            </a:pPr>
            <a:r>
              <a:rPr lang="en-US" dirty="0"/>
              <a:t>Name</a:t>
            </a:r>
          </a:p>
          <a:p>
            <a:pPr lvl="3">
              <a:buFontTx/>
              <a:buChar char="-"/>
            </a:pPr>
            <a:r>
              <a:rPr lang="en-US" dirty="0"/>
              <a:t>Email</a:t>
            </a:r>
          </a:p>
          <a:p>
            <a:pPr lvl="3">
              <a:buFontTx/>
              <a:buChar char="-"/>
            </a:pPr>
            <a:r>
              <a:rPr lang="en-US" dirty="0"/>
              <a:t>GPA</a:t>
            </a:r>
          </a:p>
          <a:p>
            <a:pPr lvl="3">
              <a:buFontTx/>
              <a:buChar char="-"/>
            </a:pPr>
            <a:r>
              <a:rPr lang="en-US" dirty="0" err="1"/>
              <a:t>DataOfBirth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03B11-79CD-AEBD-0B33-3CCBF6578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3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C4CC0-D5AC-758F-3EDF-3BAF604C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2512C-ECD0-3749-2EF2-3DA4F636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Types of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1A27-24D9-12A7-E9FF-64A12A13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48901"/>
            <a:ext cx="9724031" cy="425265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Simple vs Compositive</a:t>
            </a:r>
          </a:p>
          <a:p>
            <a:pPr lvl="1"/>
            <a:r>
              <a:rPr lang="en-US" sz="1800" dirty="0"/>
              <a:t>Name </a:t>
            </a:r>
            <a:r>
              <a:rPr lang="en-US" sz="1800" dirty="0">
                <a:sym typeface="Wingdings" panose="05000000000000000000" pitchFamily="2" charset="2"/>
              </a:rPr>
              <a:t> FirstName, LastName</a:t>
            </a:r>
          </a:p>
          <a:p>
            <a:r>
              <a:rPr lang="en-US" sz="2000" dirty="0">
                <a:sym typeface="Wingdings" panose="05000000000000000000" pitchFamily="2" charset="2"/>
              </a:rPr>
              <a:t>Single-valued vs Mult-valued</a:t>
            </a:r>
          </a:p>
          <a:p>
            <a:pPr lvl="1"/>
            <a:r>
              <a:rPr lang="en-US" sz="1800" dirty="0" err="1">
                <a:sym typeface="Wingdings" panose="05000000000000000000" pitchFamily="2" charset="2"/>
              </a:rPr>
              <a:t>PhoneNumbers</a:t>
            </a:r>
            <a:endParaRPr lang="en-US" sz="18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Stored vs Derived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Age derived from </a:t>
            </a:r>
            <a:r>
              <a:rPr lang="en-US" sz="1800" dirty="0" err="1">
                <a:sym typeface="Wingdings" panose="05000000000000000000" pitchFamily="2" charset="2"/>
              </a:rPr>
              <a:t>DateOfBirth</a:t>
            </a:r>
            <a:endParaRPr lang="en-US" sz="18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Null-valued</a:t>
            </a:r>
          </a:p>
          <a:p>
            <a:pPr lvl="1"/>
            <a:r>
              <a:rPr lang="en-US" sz="1800" dirty="0" err="1">
                <a:sym typeface="Wingdings" panose="05000000000000000000" pitchFamily="2" charset="2"/>
              </a:rPr>
              <a:t>MiddleName</a:t>
            </a:r>
            <a:r>
              <a:rPr lang="en-US" sz="1800" dirty="0">
                <a:sym typeface="Wingdings" panose="05000000000000000000" pitchFamily="2" charset="2"/>
              </a:rPr>
              <a:t> may be null</a:t>
            </a:r>
            <a:endParaRPr lang="en-US" sz="1800" dirty="0"/>
          </a:p>
          <a:p>
            <a:pPr lvl="1"/>
            <a:endParaRPr lang="en-US" sz="2000" dirty="0"/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19E15-322F-4754-0E07-2BF251C07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7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B1CB8-78BE-5EA3-E41A-E362BB84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08094-4D27-7BB2-A4D8-147BB241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a Relationship?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CC2B-9535-3708-18D0-AE0C104B1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relationship represents an association among entities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600" dirty="0"/>
              <a:t>Student ENROLLS_IN Course</a:t>
            </a:r>
          </a:p>
          <a:p>
            <a:pPr lvl="1"/>
            <a:r>
              <a:rPr lang="en-US" sz="1600" dirty="0"/>
              <a:t>Instructor TEACHES Course</a:t>
            </a:r>
          </a:p>
          <a:p>
            <a:pPr lvl="1"/>
            <a:r>
              <a:rPr lang="en-US" sz="1600" dirty="0"/>
              <a:t>Department EMPLOYS Instructor</a:t>
            </a: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C3819-530F-F22E-D9DF-2CF996034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8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4683F-C40F-94A8-1AE8-5B4BFCEE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176DA-8FB5-892F-CE75-06E1FC2F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Relationship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FD4A-7499-623A-DB42-48152B59B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Unary (Recursive): Employee manages Employee</a:t>
            </a:r>
          </a:p>
          <a:p>
            <a:r>
              <a:rPr lang="en-US" sz="2000" dirty="0">
                <a:sym typeface="Wingdings" panose="05000000000000000000" pitchFamily="2" charset="2"/>
              </a:rPr>
              <a:t>Binary: Student enrolls in Courses</a:t>
            </a:r>
          </a:p>
          <a:p>
            <a:r>
              <a:rPr lang="en-US" sz="2000" dirty="0">
                <a:sym typeface="Wingdings" panose="05000000000000000000" pitchFamily="2" charset="2"/>
              </a:rPr>
              <a:t>Ternary: Supplier supplies Part to Project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Most relationships are binary.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DE336-D539-06C0-9C34-7DAF98F59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3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56B2D-726C-7551-83A3-EC63A912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3E62C-9151-B6D8-E9EE-F5A4B843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Relationship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CF6E-6128-987C-E0D2-544B1E76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Relationships can have attributes too</a:t>
            </a:r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1800" dirty="0"/>
              <a:t>ENROLLMENT:</a:t>
            </a:r>
          </a:p>
          <a:p>
            <a:pPr lvl="2"/>
            <a:r>
              <a:rPr lang="en-US" sz="1600" dirty="0"/>
              <a:t>Grade</a:t>
            </a:r>
          </a:p>
          <a:p>
            <a:pPr lvl="2"/>
            <a:r>
              <a:rPr lang="en-US" sz="1600" dirty="0"/>
              <a:t>Semester</a:t>
            </a:r>
          </a:p>
          <a:p>
            <a:pPr lvl="2"/>
            <a:r>
              <a:rPr lang="en-US" sz="1600" dirty="0"/>
              <a:t>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4E825-5398-92C0-7F07-B836EC117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75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24C13-8B72-868E-65E6-64382586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AFB40-D60A-23AD-F194-9F639068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Introducing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6213-6B53-9EA7-B7ED-F484A0DEC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key is an attribute (or set of attributes) that uniquely identifies an entity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600" dirty="0" err="1"/>
              <a:t>StudentID</a:t>
            </a:r>
            <a:endParaRPr lang="en-US" sz="1600" dirty="0"/>
          </a:p>
          <a:p>
            <a:pPr lvl="1"/>
            <a:r>
              <a:rPr lang="en-US" sz="1600" dirty="0"/>
              <a:t>SSN</a:t>
            </a:r>
          </a:p>
          <a:p>
            <a:pPr lvl="1"/>
            <a:r>
              <a:rPr lang="en-US" sz="1600" dirty="0" err="1"/>
              <a:t>CourseID</a:t>
            </a:r>
            <a:endParaRPr lang="en-US" sz="1600" dirty="0"/>
          </a:p>
          <a:p>
            <a:r>
              <a:rPr lang="en-US" sz="2000" dirty="0"/>
              <a:t>Types of Keys</a:t>
            </a:r>
          </a:p>
          <a:p>
            <a:pPr lvl="1"/>
            <a:r>
              <a:rPr lang="en-US" sz="1600" b="1" dirty="0" err="1"/>
              <a:t>Superkey</a:t>
            </a:r>
            <a:r>
              <a:rPr lang="en-US" sz="1600" dirty="0"/>
              <a:t>: Any set of attributes that uniquely identifies</a:t>
            </a:r>
          </a:p>
          <a:p>
            <a:pPr lvl="1"/>
            <a:r>
              <a:rPr lang="en-US" sz="1600" b="1" dirty="0"/>
              <a:t>Candidate Key</a:t>
            </a:r>
            <a:r>
              <a:rPr lang="en-US" sz="1600" dirty="0"/>
              <a:t>: Minimal </a:t>
            </a:r>
            <a:r>
              <a:rPr lang="en-US" sz="1600" dirty="0" err="1"/>
              <a:t>superkey</a:t>
            </a:r>
            <a:endParaRPr lang="en-US" sz="1600" dirty="0"/>
          </a:p>
          <a:p>
            <a:pPr lvl="1"/>
            <a:r>
              <a:rPr lang="en-US" sz="1600" b="1" dirty="0"/>
              <a:t>Primary Key</a:t>
            </a:r>
            <a:r>
              <a:rPr lang="en-US" sz="1600" dirty="0"/>
              <a:t>: Chosen candidate key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EC34-5B04-91E3-7D25-E4D993441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93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D7D20-EE1C-699F-FDCD-E089A2CC1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36417-B104-597C-A759-B2D38CE0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3F8DA-A134-46C6-D122-46D1E9355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200" dirty="0"/>
              <a:t>STUDENT(</a:t>
            </a:r>
            <a:r>
              <a:rPr lang="en-US" sz="2200" dirty="0" err="1"/>
              <a:t>StudentID</a:t>
            </a:r>
            <a:r>
              <a:rPr lang="en-US" sz="2200" dirty="0"/>
              <a:t>, Email, Name)</a:t>
            </a:r>
          </a:p>
          <a:p>
            <a:pPr lvl="1"/>
            <a:r>
              <a:rPr lang="en-US" sz="2000" dirty="0" err="1"/>
              <a:t>Superkeys</a:t>
            </a:r>
            <a:r>
              <a:rPr lang="en-US" sz="2000" dirty="0"/>
              <a:t>:</a:t>
            </a:r>
          </a:p>
          <a:p>
            <a:pPr lvl="2"/>
            <a:r>
              <a:rPr lang="en-US" sz="1600" dirty="0"/>
              <a:t>{</a:t>
            </a:r>
            <a:r>
              <a:rPr lang="en-US" sz="1600" dirty="0" err="1"/>
              <a:t>StudentID</a:t>
            </a:r>
            <a:r>
              <a:rPr lang="en-US" sz="1600" dirty="0"/>
              <a:t>}</a:t>
            </a:r>
          </a:p>
          <a:p>
            <a:pPr lvl="2"/>
            <a:r>
              <a:rPr lang="en-US" sz="1600" dirty="0"/>
              <a:t>{Email}</a:t>
            </a:r>
          </a:p>
          <a:p>
            <a:pPr lvl="2"/>
            <a:r>
              <a:rPr lang="en-US" sz="1600" dirty="0"/>
              <a:t>{</a:t>
            </a:r>
            <a:r>
              <a:rPr lang="en-US" sz="1600" dirty="0" err="1"/>
              <a:t>StudentID</a:t>
            </a:r>
            <a:r>
              <a:rPr lang="en-US" sz="1600" dirty="0"/>
              <a:t>, Name}</a:t>
            </a:r>
          </a:p>
          <a:p>
            <a:pPr lvl="1"/>
            <a:r>
              <a:rPr lang="en-US" sz="2000" dirty="0"/>
              <a:t>Candidate keys:</a:t>
            </a:r>
          </a:p>
          <a:p>
            <a:pPr lvl="2"/>
            <a:r>
              <a:rPr lang="en-US" sz="1600" dirty="0"/>
              <a:t>{</a:t>
            </a:r>
            <a:r>
              <a:rPr lang="en-US" sz="1600" dirty="0" err="1"/>
              <a:t>StudentID</a:t>
            </a:r>
            <a:r>
              <a:rPr lang="en-US" sz="1600" dirty="0"/>
              <a:t>}</a:t>
            </a:r>
          </a:p>
          <a:p>
            <a:pPr lvl="2"/>
            <a:r>
              <a:rPr lang="en-US" sz="1600" dirty="0"/>
              <a:t>{Email}</a:t>
            </a:r>
          </a:p>
          <a:p>
            <a:pPr lvl="1"/>
            <a:r>
              <a:rPr lang="en-US" sz="2000" dirty="0"/>
              <a:t>Primary Key:</a:t>
            </a:r>
          </a:p>
          <a:p>
            <a:pPr lvl="2"/>
            <a:r>
              <a:rPr lang="en-US" sz="1600" dirty="0"/>
              <a:t>{</a:t>
            </a:r>
            <a:r>
              <a:rPr lang="en-US" sz="1600" dirty="0" err="1"/>
              <a:t>StudentID</a:t>
            </a:r>
            <a:r>
              <a:rPr lang="en-US" sz="1600" dirty="0"/>
              <a:t>}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Key attributes are Underlined or Marked with (PK)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D65FAF-C3E1-4DB0-DEF0-5BFCE6A96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6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33352-DDAE-BE66-2D16-6DB83BB3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A3084-9DB3-7AD2-37AD-9F5B2BF6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5502-A264-C5CF-7072-87096042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Cardinality specifies how many entities can participate in a relationship. </a:t>
            </a:r>
          </a:p>
          <a:p>
            <a:r>
              <a:rPr lang="en-US" sz="2000" dirty="0"/>
              <a:t>Types:</a:t>
            </a:r>
          </a:p>
          <a:p>
            <a:pPr lvl="1"/>
            <a:r>
              <a:rPr lang="en-US" sz="1600" dirty="0"/>
              <a:t>1 : 1 (One to one)</a:t>
            </a:r>
          </a:p>
          <a:p>
            <a:pPr lvl="1"/>
            <a:r>
              <a:rPr lang="en-US" sz="1600" dirty="0"/>
              <a:t>1 : N (One to many)</a:t>
            </a:r>
          </a:p>
          <a:p>
            <a:pPr lvl="1"/>
            <a:r>
              <a:rPr lang="en-US" sz="1600" dirty="0"/>
              <a:t>M : N (Many to many)</a:t>
            </a:r>
          </a:p>
          <a:p>
            <a:r>
              <a:rPr lang="en-US" sz="2000" dirty="0"/>
              <a:t>Cardinality Examples:</a:t>
            </a:r>
          </a:p>
          <a:p>
            <a:pPr lvl="1"/>
            <a:r>
              <a:rPr lang="en-US" sz="1600" dirty="0"/>
              <a:t>Student –ENROLLS_IN – Course </a:t>
            </a:r>
            <a:r>
              <a:rPr lang="en-US" sz="1600" dirty="0">
                <a:sym typeface="Wingdings" panose="05000000000000000000" pitchFamily="2" charset="2"/>
              </a:rPr>
              <a:t> M:N</a:t>
            </a:r>
          </a:p>
          <a:p>
            <a:pPr lvl="1"/>
            <a:r>
              <a:rPr lang="en-US" sz="1600" dirty="0"/>
              <a:t>Instructor – TEACHES – Course </a:t>
            </a:r>
            <a:r>
              <a:rPr lang="en-US" sz="1600" dirty="0">
                <a:sym typeface="Wingdings" panose="05000000000000000000" pitchFamily="2" charset="2"/>
              </a:rPr>
              <a:t> 1:N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Person – HAS_PASSPORT – Passport  1:1</a:t>
            </a:r>
            <a:endParaRPr lang="en-US" sz="16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D2469-CF96-F559-DB80-54EA07E61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00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3738-636F-3843-9BC8-E9920D66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B9F1F-374A-5FCC-0BF8-7678B619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9F37-004E-0A7B-B5B4-9CF7782D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pPr lvl="1"/>
            <a:r>
              <a:rPr lang="en-US" sz="2000" dirty="0"/>
              <a:t>Participation specifies whether participation is mandatory or optional</a:t>
            </a:r>
          </a:p>
          <a:p>
            <a:pPr lvl="1"/>
            <a:r>
              <a:rPr lang="en-US" sz="2000" dirty="0"/>
              <a:t>Two types:</a:t>
            </a:r>
          </a:p>
          <a:p>
            <a:pPr lvl="2"/>
            <a:r>
              <a:rPr lang="en-US" sz="1800" dirty="0"/>
              <a:t>Total Participation (mandatory)</a:t>
            </a:r>
          </a:p>
          <a:p>
            <a:pPr lvl="2"/>
            <a:r>
              <a:rPr lang="en-US" sz="1800" dirty="0"/>
              <a:t>Partial Participation (optional)</a:t>
            </a:r>
          </a:p>
          <a:p>
            <a:pPr lvl="1"/>
            <a:r>
              <a:rPr lang="en-US" sz="2000" dirty="0"/>
              <a:t>Example:</a:t>
            </a:r>
          </a:p>
          <a:p>
            <a:pPr lvl="2"/>
            <a:r>
              <a:rPr lang="en-US" sz="1800" dirty="0"/>
              <a:t>Every </a:t>
            </a:r>
            <a:r>
              <a:rPr lang="en-US" sz="1800" b="1" dirty="0"/>
              <a:t>course</a:t>
            </a:r>
            <a:r>
              <a:rPr lang="en-US" sz="1800" dirty="0"/>
              <a:t> must be taught by an </a:t>
            </a:r>
            <a:r>
              <a:rPr lang="en-US" sz="1800" b="1" dirty="0"/>
              <a:t>instructor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 Total</a:t>
            </a:r>
          </a:p>
          <a:p>
            <a:pPr lvl="2"/>
            <a:r>
              <a:rPr lang="en-US" sz="1800" dirty="0">
                <a:sym typeface="Wingdings" panose="05000000000000000000" pitchFamily="2" charset="2"/>
              </a:rPr>
              <a:t>Not every </a:t>
            </a:r>
            <a:r>
              <a:rPr lang="en-US" sz="1800" b="1" dirty="0">
                <a:sym typeface="Wingdings" panose="05000000000000000000" pitchFamily="2" charset="2"/>
              </a:rPr>
              <a:t>instructor</a:t>
            </a:r>
            <a:r>
              <a:rPr lang="en-US" sz="1800" dirty="0">
                <a:sym typeface="Wingdings" panose="05000000000000000000" pitchFamily="2" charset="2"/>
              </a:rPr>
              <a:t> must teach  Partial</a:t>
            </a:r>
            <a:endParaRPr lang="en-US" sz="18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84E10-3D7E-4A18-A878-B6E8D5E44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22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E609-4981-C048-7344-E7C815C9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7DE6-4194-2B10-943F-4BC1916B0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For each relationship edge, we define:</a:t>
            </a:r>
          </a:p>
          <a:p>
            <a:pPr lvl="1"/>
            <a:r>
              <a:rPr lang="en-US" sz="2000" dirty="0"/>
              <a:t>Cardinality (1 or N)</a:t>
            </a:r>
          </a:p>
          <a:p>
            <a:pPr lvl="1"/>
            <a:r>
              <a:rPr lang="en-US" sz="2000" dirty="0"/>
              <a:t>Participation (Total or partial)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This defines business rules.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76119-B54F-0EEF-E20A-2A7E2F86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Constraints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DA797-14D7-0211-9496-C3DAC2302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4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7BC5-3003-964F-294F-F3B9B4A8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6B82D-A43C-291C-887C-789F8A94F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</a:t>
            </a:r>
            <a:r>
              <a:rPr lang="en-US" sz="2400" b="1" dirty="0"/>
              <a:t>nouns</a:t>
            </a:r>
            <a:r>
              <a:rPr lang="en-US" sz="2400" dirty="0"/>
              <a:t> for entities</a:t>
            </a:r>
          </a:p>
          <a:p>
            <a:r>
              <a:rPr lang="en-US" sz="2400" dirty="0"/>
              <a:t>Use </a:t>
            </a:r>
            <a:r>
              <a:rPr lang="en-US" sz="2400" b="1" dirty="0"/>
              <a:t>verbs</a:t>
            </a:r>
            <a:r>
              <a:rPr lang="en-US" sz="2400" dirty="0"/>
              <a:t> for relationships</a:t>
            </a:r>
          </a:p>
          <a:p>
            <a:r>
              <a:rPr lang="en-US" sz="2400" dirty="0"/>
              <a:t>Avoid turning attributes into entities (unless necessary)</a:t>
            </a:r>
          </a:p>
          <a:p>
            <a:r>
              <a:rPr lang="en-US" sz="2400" dirty="0"/>
              <a:t>Avoid storing redundant information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F940A-3C51-B176-FB3B-2FA51FF3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Guidelines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CB869-3238-A763-5ABB-5D98A7258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80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560</Words>
  <Application>Microsoft Office PowerPoint</Application>
  <PresentationFormat>Widescreen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Lucida Calligraphy</vt:lpstr>
      <vt:lpstr>Wingdings</vt:lpstr>
      <vt:lpstr>Office Theme</vt:lpstr>
      <vt:lpstr>CS3700 Intro to Database &amp; Modelling– Week 2</vt:lpstr>
      <vt:lpstr>Why Data Modelling?</vt:lpstr>
      <vt:lpstr>Where ER Modeling Fits</vt:lpstr>
      <vt:lpstr>What is the ER Model?</vt:lpstr>
      <vt:lpstr>Basic ER Concepts</vt:lpstr>
      <vt:lpstr>What is an Entity?</vt:lpstr>
      <vt:lpstr>Entity Type vs Entity Instance</vt:lpstr>
      <vt:lpstr>What is an Attribute?</vt:lpstr>
      <vt:lpstr>Types of Attributes</vt:lpstr>
      <vt:lpstr>What is a Relationship?</vt:lpstr>
      <vt:lpstr>Relationship Degree</vt:lpstr>
      <vt:lpstr>Relationship Attributes</vt:lpstr>
      <vt:lpstr>Introducing Keys</vt:lpstr>
      <vt:lpstr>Key Example</vt:lpstr>
      <vt:lpstr>Cardinality Constraints</vt:lpstr>
      <vt:lpstr>Participation Constraints</vt:lpstr>
      <vt:lpstr>Combining Constraints</vt:lpstr>
      <vt:lpstr>Design Guidelines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15</cp:revision>
  <dcterms:created xsi:type="dcterms:W3CDTF">2026-01-14T05:30:02Z</dcterms:created>
  <dcterms:modified xsi:type="dcterms:W3CDTF">2026-09-02T14:09:42Z</dcterms:modified>
</cp:coreProperties>
</file>