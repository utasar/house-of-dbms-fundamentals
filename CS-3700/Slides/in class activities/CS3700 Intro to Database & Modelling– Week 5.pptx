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8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F7B3D-A1FC-49D1-8E31-394C2939E03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9848D-3996-4F1E-9050-33169A8A1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60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https://www.knack.com/blog/database-normalization-no-code/</a:t>
            </a:r>
          </a:p>
          <a:p>
            <a:r>
              <a:rPr lang="en-US" dirty="0"/>
              <a:t>https://www.geeksforgeeks.org/dbms/introduction-of-database-normalization/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9848D-3996-4F1E-9050-33169A8A12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51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9925-0EA6-02DD-25CC-C2E68921D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7B7E8-71E8-4363-F399-9F39B3473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B9A6E-D967-2636-106F-A5314E0C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B7062-0E12-A5A2-34DB-32B1D0D1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EE58-0812-AFB9-8B25-0F1D3BA3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6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4BF2-A987-99B5-2698-3F76FABA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031C3-5259-4DBB-4CE0-28661CBAD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3B217-240D-82B9-9AF1-0660C9D0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312DA-0D6C-05E1-B85E-FEBE1A6F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67F7B-720E-B4FA-3BC7-3CE57923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9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E3A5-BBF7-2325-F4CE-6087E6C5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8FD1A-B2FF-50AD-6AB9-B3ABC614F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5D20B-2B81-FAF0-C7CC-1876A8E2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C76A8-58E1-60CF-E935-D66EBF8C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468F2-11CD-D04D-EC12-9893BD4E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3BFD-6808-B652-4C05-ACF2FA1E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4AC45-D23B-03C0-308F-E74A84298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C5414-FDD3-C011-6380-8CF89CB04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331C0-C33D-B269-CE32-BD67BF1E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BFEBF-61DF-B907-FBA7-114D92514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5C76D-9485-B4ED-1BB1-16FB7760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3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646A-1C39-5217-C2A2-E76C8AE95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C663E-3B4B-125D-0D76-796F6F108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8176B-E80F-96D3-383C-D4148820E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181FE-10D9-35B0-B442-A11BF79FF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A8CA4-E8BE-5E7C-BEB5-7A23B7F1C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093B0F-BE15-0A32-645B-9D06B478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4B8E6-A27A-C7EA-F407-359B027C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2E21BA-963A-23EB-3227-79CADDF1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8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0AB0-E8A7-1EA8-E983-0E548A24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DD5C97-577C-2C7B-B79B-B1E1928C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5660D-07BA-6854-E5C3-A62F9DB6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F6ECB-0576-8D51-BED7-23BD01DF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0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AD0BB-C66D-CBE7-90AE-4E86702F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6B7D5-9CAC-2BB9-D364-45F9B84D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03F97-4767-ADE1-D2F2-879D35C9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5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A1B0F-D169-E0F2-F04F-F8C5DC4F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7805-17F9-AA02-41B1-6F08885D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A02C3-116C-A475-5677-3B259AC3C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696A7-F849-5E6A-217D-716653DB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8BCA1-5AC9-11E6-F9A7-31841F87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257BC-E0F0-7ECB-6971-263E3DA1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E31A-1024-415C-D9B5-FCDE4D6A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5AB50-9A41-5189-CEDD-54DADDAFE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3D5F7-9038-F085-DDF0-9A8DF943B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903F9-DD77-5BD4-67D6-BC92F157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3562E-E2EF-178C-84B7-1A29BC52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43BBC-7AAA-2BAB-3350-88FA8650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9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2E922-BE74-FC5B-6FE9-798BF440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09CA1-1364-4F9B-3C40-808CAC8CC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FC67A-62EE-5B47-4C90-FDB91374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29FC1-94CE-F9E0-072F-0175E5AA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561EA-8E48-6F1C-6750-934F2ABF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3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08D5C-C0F6-D4A1-78D3-F78B15AC0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2B132-704A-90E1-12A9-A6C660B16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C7C39-3B44-F9C5-4566-BE621C8D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847AF-1132-0627-51B8-3AAA187C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541D-D7CA-DEE2-C9F6-A8C2F89B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41BFDB-A5C7-FBEF-6726-A9CB9AD29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B5DCB-F7B8-1296-B130-E1A21585D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9758A-E657-F11C-7C19-109A790C3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FA79F-CAA4-4BA3-94B9-0C35896CE18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A3DD7-2942-E5AE-C41E-BBAAD616A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C0884-5E6F-4CC1-9478-9F15EEC6A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43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52B1-1347-21A0-4603-5CDDEF3948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CS3700 Intro to Database &amp; Modelling– Week 5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00A91-7FC9-E396-71A3-4A57DD09A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94265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Normalization</a:t>
            </a:r>
          </a:p>
          <a:p>
            <a:r>
              <a:rPr lang="en-US" dirty="0"/>
              <a:t>Bibek Raj Joshi</a:t>
            </a:r>
          </a:p>
          <a:p>
            <a:r>
              <a:rPr lang="en-US" dirty="0"/>
              <a:t>Fall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3D876-CD84-6E0D-1C36-9605C7831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665" y="4952299"/>
            <a:ext cx="3310135" cy="156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88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50186-7A00-EDEA-6523-6E6028CB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B4F8-7318-176B-2072-C3518CF1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and Why we do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1859A-482C-1589-E681-D1F3AD44C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Normalization is the process of organizing database tables to reduce redundancy and ensure consistent data storage.</a:t>
            </a:r>
          </a:p>
          <a:p>
            <a:r>
              <a:rPr lang="en-US" dirty="0"/>
              <a:t>Poorly designed tables repeat information across many rows, which leads to inefficient storage.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05182E-D62A-EB44-C710-F670F2CAB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96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B3E14-CEFF-3DE7-66CA-276DD56A1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D7AAC-6CCC-7BA7-85A8-404808CCB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without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C5D9-0D83-CFC0-6BC6-8CBAD6A08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Redundancy</a:t>
            </a:r>
          </a:p>
          <a:p>
            <a:pPr lvl="1"/>
            <a:r>
              <a:rPr lang="en-US" dirty="0"/>
              <a:t>Redundancy occurs when the same data is stored multiple times unnecessarily. 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 err="1"/>
              <a:t>StudentCourse</a:t>
            </a:r>
            <a:r>
              <a:rPr lang="en-US" dirty="0"/>
              <a:t>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student_name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, </a:t>
            </a:r>
            <a:r>
              <a:rPr lang="en-US" dirty="0" err="1"/>
              <a:t>course_name</a:t>
            </a:r>
            <a:r>
              <a:rPr lang="en-US" dirty="0"/>
              <a:t>,  instructor)</a:t>
            </a:r>
          </a:p>
          <a:p>
            <a:pPr lvl="2"/>
            <a:r>
              <a:rPr lang="en-US" dirty="0"/>
              <a:t>Attributes </a:t>
            </a:r>
            <a:r>
              <a:rPr lang="en-US" dirty="0" err="1"/>
              <a:t>student_name</a:t>
            </a:r>
            <a:r>
              <a:rPr lang="en-US" dirty="0"/>
              <a:t>, </a:t>
            </a:r>
            <a:r>
              <a:rPr lang="en-US" dirty="0" err="1"/>
              <a:t>course_name</a:t>
            </a:r>
            <a:r>
              <a:rPr lang="en-US" dirty="0"/>
              <a:t>, instructor are repeated multiple times, wasting </a:t>
            </a:r>
            <a:r>
              <a:rPr lang="en-US" dirty="0" err="1"/>
              <a:t>storaging</a:t>
            </a:r>
            <a:r>
              <a:rPr lang="en-US" dirty="0"/>
              <a:t> and creating update risks.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2B332B-FDEB-9CF7-66D5-E8E6EF4ED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62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9A6AB-096B-4105-C741-080F3F4EA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F61A4-AD6F-61D3-8CC1-A876B0637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without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1A387-0001-665F-F41B-ACA84F713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Anomalies are inconsistencies or problems that arise from redundant data storage. </a:t>
            </a:r>
          </a:p>
          <a:p>
            <a:r>
              <a:rPr lang="en-US" dirty="0"/>
              <a:t>Types:</a:t>
            </a:r>
          </a:p>
          <a:p>
            <a:pPr lvl="1"/>
            <a:r>
              <a:rPr lang="en-US" dirty="0"/>
              <a:t>Insertion: Cannot add course unless a student enrolls.</a:t>
            </a:r>
          </a:p>
          <a:p>
            <a:pPr lvl="1"/>
            <a:r>
              <a:rPr lang="en-US" dirty="0"/>
              <a:t>Update anomaly: Instructor change must be updated in many rows_</a:t>
            </a:r>
          </a:p>
          <a:p>
            <a:pPr lvl="1"/>
            <a:r>
              <a:rPr lang="en-US" dirty="0"/>
              <a:t>Deletion anomaly: Deleting last student removes course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3A1E0-D1F8-F881-2C2D-A692FEEE0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99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14CB8-FE1F-2C47-10DF-F7FD6ACF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4D25E-24D5-6EFB-B290-0DD2A25E8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863F9-2F68-6D00-E702-3DF5CA112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Normalization is performed in stages called “normal forms”</a:t>
            </a:r>
          </a:p>
          <a:p>
            <a:r>
              <a:rPr lang="en-US" dirty="0"/>
              <a:t>1NF removes repeating attributes</a:t>
            </a:r>
          </a:p>
          <a:p>
            <a:r>
              <a:rPr lang="en-US" dirty="0"/>
              <a:t>2NF removes partial dependencies</a:t>
            </a:r>
          </a:p>
          <a:p>
            <a:r>
              <a:rPr lang="en-US" dirty="0"/>
              <a:t>3NF removes transitive dependencies</a:t>
            </a:r>
          </a:p>
          <a:p>
            <a:r>
              <a:rPr lang="en-US" dirty="0"/>
              <a:t>Each stage improves table structure.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0885EB-B5C4-CFD0-9932-1323C64B9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73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FBFE1-1B5A-222E-9DBE-F608BD304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73B6E-70CD-7334-F133-D26215FF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Normal Form (1NF)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F11E3-A6DD-25DD-1BE0-48311027A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relation is in 1NF if</a:t>
            </a:r>
          </a:p>
          <a:p>
            <a:pPr lvl="1"/>
            <a:r>
              <a:rPr lang="en-US" dirty="0"/>
              <a:t>All attribute contain atomic values</a:t>
            </a:r>
          </a:p>
          <a:p>
            <a:pPr lvl="1"/>
            <a:r>
              <a:rPr lang="en-US" dirty="0"/>
              <a:t>No repeating groups exist</a:t>
            </a:r>
          </a:p>
          <a:p>
            <a:r>
              <a:rPr lang="en-US" dirty="0"/>
              <a:t>Each cell must only contain one value.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Student(id, name, phones)</a:t>
            </a:r>
          </a:p>
          <a:p>
            <a:pPr lvl="1"/>
            <a:r>
              <a:rPr lang="en-US" dirty="0"/>
              <a:t>Phones:{937-XXX-XXXX. 654-XXX-XXXX}</a:t>
            </a:r>
          </a:p>
          <a:p>
            <a:pPr lvl="1"/>
            <a:r>
              <a:rPr lang="en-US" dirty="0"/>
              <a:t>Phones contain multiple values in one field, violating atomicity</a:t>
            </a:r>
          </a:p>
          <a:p>
            <a:pPr lvl="1"/>
            <a:r>
              <a:rPr lang="en-US" dirty="0"/>
              <a:t>Solution: </a:t>
            </a:r>
          </a:p>
          <a:p>
            <a:pPr lvl="2"/>
            <a:r>
              <a:rPr lang="en-US" dirty="0"/>
              <a:t>Student(id, name)</a:t>
            </a:r>
          </a:p>
          <a:p>
            <a:pPr lvl="2"/>
            <a:r>
              <a:rPr lang="en-US" dirty="0" err="1"/>
              <a:t>StudentPhone</a:t>
            </a:r>
            <a:r>
              <a:rPr lang="en-US" dirty="0"/>
              <a:t>(</a:t>
            </a:r>
            <a:r>
              <a:rPr lang="en-US" dirty="0" err="1"/>
              <a:t>student_id</a:t>
            </a:r>
            <a:r>
              <a:rPr lang="en-US" dirty="0"/>
              <a:t>, phone)</a:t>
            </a:r>
          </a:p>
          <a:p>
            <a:pPr lvl="2"/>
            <a:r>
              <a:rPr lang="en-US" dirty="0"/>
              <a:t>Each phone number is now stored as a separate row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A57141-1B08-CF67-B0B9-60DA82EB3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96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27E2F-7EB5-9196-9395-4BC223A2D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99B5E-258D-B029-418E-F9B63811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Normal Form(2NF)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E3198-4900-49CC-F962-1D7D299F8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relation is in 2NF if</a:t>
            </a:r>
          </a:p>
          <a:p>
            <a:pPr lvl="1"/>
            <a:r>
              <a:rPr lang="en-US" dirty="0"/>
              <a:t>It is in 1NF</a:t>
            </a:r>
          </a:p>
          <a:p>
            <a:pPr lvl="1"/>
            <a:r>
              <a:rPr lang="en-US" dirty="0"/>
              <a:t>No non-key attribute depend on only part of a composite key</a:t>
            </a:r>
          </a:p>
          <a:p>
            <a:r>
              <a:rPr lang="en-US" b="1" dirty="0"/>
              <a:t>Attributes must depend on the entire primary key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Enrollment(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, </a:t>
            </a:r>
            <a:r>
              <a:rPr lang="en-US" dirty="0" err="1"/>
              <a:t>student_name</a:t>
            </a:r>
            <a:r>
              <a:rPr lang="en-US" dirty="0"/>
              <a:t>, </a:t>
            </a:r>
            <a:r>
              <a:rPr lang="en-US" dirty="0" err="1"/>
              <a:t>course_name</a:t>
            </a:r>
            <a:r>
              <a:rPr lang="en-US" dirty="0"/>
              <a:t>, grade)</a:t>
            </a:r>
          </a:p>
          <a:p>
            <a:pPr lvl="1"/>
            <a:r>
              <a:rPr lang="en-US" dirty="0"/>
              <a:t>Primary key(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Dependencies</a:t>
            </a:r>
          </a:p>
          <a:p>
            <a:pPr lvl="2"/>
            <a:r>
              <a:rPr lang="en-US" dirty="0" err="1"/>
              <a:t>student_id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student_name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 err="1">
                <a:sym typeface="Wingdings" panose="05000000000000000000" pitchFamily="2" charset="2"/>
              </a:rPr>
              <a:t>course_id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course_name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 err="1"/>
              <a:t>student_name</a:t>
            </a:r>
            <a:r>
              <a:rPr lang="en-US" dirty="0"/>
              <a:t> depends on only </a:t>
            </a:r>
            <a:r>
              <a:rPr lang="en-US" dirty="0" err="1"/>
              <a:t>student_id</a:t>
            </a:r>
            <a:r>
              <a:rPr lang="en-US" dirty="0"/>
              <a:t>, not the full key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91989-F281-F048-4F89-3F25E932E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28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6C72-448A-4B45-18E3-956BBDC9C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7C8F-09F8-1C47-3105-870AB8B6D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Normal Form(2NF)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B4BE4-737E-21AE-6385-4FE04A7A9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Student(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student_name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Course(</a:t>
            </a:r>
            <a:r>
              <a:rPr lang="en-US" dirty="0" err="1"/>
              <a:t>course_id</a:t>
            </a:r>
            <a:r>
              <a:rPr lang="en-US" dirty="0"/>
              <a:t>, </a:t>
            </a:r>
            <a:r>
              <a:rPr lang="en-US" dirty="0" err="1"/>
              <a:t>course_name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Enrollment(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, grade)</a:t>
            </a:r>
          </a:p>
          <a:p>
            <a:r>
              <a:rPr lang="en-US" dirty="0"/>
              <a:t>Attributes get moved to relations where they fully depend on the key.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818545-A068-8FA8-3050-ABB93E4D4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195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7461C-CE6F-1BAA-98E3-134A71AD3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E79B-762E-3A9E-A527-02506A3B3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Normal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D1ED8-5E28-D2BE-1666-DB662DB93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Transitive Dependency</a:t>
            </a:r>
          </a:p>
          <a:p>
            <a:pPr lvl="1"/>
            <a:r>
              <a:rPr lang="en-US" dirty="0"/>
              <a:t>A transitive dependency occurs when a non-key attribute depends on another non key attribute rather than depending directly on the primary key. 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 B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B  C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Therefore, AC indirectly through B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C is transitively dependent on A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D779D3-6575-549E-7C41-87398AF77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285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CE73-EDBB-4E42-EEDA-5F96E688F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3EEFE-E5BF-04CE-39F2-580CCB5E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Normal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FD7DF-B8EF-2E55-B88D-55201D6CF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Relation: Employee(</a:t>
            </a:r>
            <a:r>
              <a:rPr lang="en-US" dirty="0" err="1"/>
              <a:t>emp_id</a:t>
            </a:r>
            <a:r>
              <a:rPr lang="en-US" dirty="0"/>
              <a:t>, </a:t>
            </a:r>
            <a:r>
              <a:rPr lang="en-US" dirty="0" err="1"/>
              <a:t>dept_id</a:t>
            </a:r>
            <a:r>
              <a:rPr lang="en-US" dirty="0"/>
              <a:t>, </a:t>
            </a:r>
            <a:r>
              <a:rPr lang="en-US" dirty="0" err="1"/>
              <a:t>dept_name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Functional Dependencies</a:t>
            </a:r>
          </a:p>
          <a:p>
            <a:pPr lvl="2"/>
            <a:r>
              <a:rPr lang="en-US" dirty="0" err="1"/>
              <a:t>emp_id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dept_id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 err="1">
                <a:sym typeface="Wingdings" panose="05000000000000000000" pitchFamily="2" charset="2"/>
              </a:rPr>
              <a:t>dept_id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dep_name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 err="1">
                <a:sym typeface="Wingdings" panose="05000000000000000000" pitchFamily="2" charset="2"/>
              </a:rPr>
              <a:t>emp_id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dept_name</a:t>
            </a:r>
            <a:r>
              <a:rPr lang="en-US" dirty="0">
                <a:sym typeface="Wingdings" panose="05000000000000000000" pitchFamily="2" charset="2"/>
              </a:rPr>
              <a:t> (indirectly)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This is a problem because </a:t>
            </a:r>
            <a:r>
              <a:rPr lang="en-US" dirty="0" err="1">
                <a:sym typeface="Wingdings" panose="05000000000000000000" pitchFamily="2" charset="2"/>
              </a:rPr>
              <a:t>dept_name</a:t>
            </a:r>
            <a:r>
              <a:rPr lang="en-US" dirty="0">
                <a:sym typeface="Wingdings" panose="05000000000000000000" pitchFamily="2" charset="2"/>
              </a:rPr>
              <a:t> depends on </a:t>
            </a:r>
            <a:r>
              <a:rPr lang="en-US" dirty="0" err="1">
                <a:sym typeface="Wingdings" panose="05000000000000000000" pitchFamily="2" charset="2"/>
              </a:rPr>
              <a:t>dept_id</a:t>
            </a:r>
            <a:r>
              <a:rPr lang="en-US" dirty="0">
                <a:sym typeface="Wingdings" panose="05000000000000000000" pitchFamily="2" charset="2"/>
              </a:rPr>
              <a:t> rather than directly on </a:t>
            </a:r>
            <a:r>
              <a:rPr lang="en-US" dirty="0" err="1">
                <a:sym typeface="Wingdings" panose="05000000000000000000" pitchFamily="2" charset="2"/>
              </a:rPr>
              <a:t>dept_id</a:t>
            </a:r>
            <a:r>
              <a:rPr lang="en-US" dirty="0">
                <a:sym typeface="Wingdings" panose="05000000000000000000" pitchFamily="2" charset="2"/>
              </a:rPr>
              <a:t>. However, the table stores department information repeatedly for every employee in that department causing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Redundancy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Update </a:t>
            </a:r>
            <a:r>
              <a:rPr lang="en-US" dirty="0" err="1">
                <a:sym typeface="Wingdings" panose="05000000000000000000" pitchFamily="2" charset="2"/>
              </a:rPr>
              <a:t>anomalizes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Deletion anomalies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0678AE-F3C8-6EBF-EC91-A7B0A65C6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34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2628-1638-7C3F-8D9B-70BDEE90E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D5B52-17AE-DC41-CE77-649428893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Normal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32C4D-F50A-3B3A-260C-E42C5CE72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Create two tables: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Department(</a:t>
            </a:r>
            <a:r>
              <a:rPr lang="en-US" dirty="0" err="1">
                <a:sym typeface="Wingdings" panose="05000000000000000000" pitchFamily="2" charset="2"/>
              </a:rPr>
              <a:t>dept_id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dept_name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Employee(</a:t>
            </a:r>
            <a:r>
              <a:rPr lang="en-US" dirty="0" err="1">
                <a:sym typeface="Wingdings" panose="05000000000000000000" pitchFamily="2" charset="2"/>
              </a:rPr>
              <a:t>emp_id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dept_id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en-US" dirty="0" err="1">
                <a:sym typeface="Wingdings" panose="05000000000000000000" pitchFamily="2" charset="2"/>
              </a:rPr>
              <a:t>dept_name</a:t>
            </a:r>
            <a:r>
              <a:rPr lang="en-US" dirty="0">
                <a:sym typeface="Wingdings" panose="05000000000000000000" pitchFamily="2" charset="2"/>
              </a:rPr>
              <a:t> depends only on </a:t>
            </a:r>
            <a:r>
              <a:rPr lang="en-US" dirty="0" err="1">
                <a:sym typeface="Wingdings" panose="05000000000000000000" pitchFamily="2" charset="2"/>
              </a:rPr>
              <a:t>dept_id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Employee table stores only employee-specific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77C639-7975-E38C-3539-2B5DF45A6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24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4633-191E-D9D3-7AA3-56066B5E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DEDFA-E675-31B8-7017-2591A2861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Normalization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5F6DA-30AD-9DBC-BDF8-AFD4C0BFB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Starting Relation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Orders(</a:t>
            </a:r>
            <a:r>
              <a:rPr lang="en-US" dirty="0" err="1">
                <a:sym typeface="Wingdings" panose="05000000000000000000" pitchFamily="2" charset="2"/>
              </a:rPr>
              <a:t>order_id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customer_id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customer_name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product_id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product_name</a:t>
            </a:r>
            <a:r>
              <a:rPr lang="en-US" dirty="0">
                <a:sym typeface="Wingdings" panose="05000000000000000000" pitchFamily="2" charset="2"/>
              </a:rPr>
              <a:t>, quantity)</a:t>
            </a:r>
          </a:p>
          <a:p>
            <a:r>
              <a:rPr lang="en-US" dirty="0">
                <a:sym typeface="Wingdings" panose="05000000000000000000" pitchFamily="2" charset="2"/>
              </a:rPr>
              <a:t>Step 1: Identify functional dependencies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customer_id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customer_name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product_id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product_name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n-US" dirty="0" err="1">
                <a:sym typeface="Wingdings" panose="05000000000000000000" pitchFamily="2" charset="2"/>
              </a:rPr>
              <a:t>order_id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product_id</a:t>
            </a:r>
            <a:r>
              <a:rPr lang="en-US" dirty="0">
                <a:sym typeface="Wingdings" panose="05000000000000000000" pitchFamily="2" charset="2"/>
              </a:rPr>
              <a:t>)  quantity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Customer_name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dirty="0" err="1">
                <a:sym typeface="Wingdings" panose="05000000000000000000" pitchFamily="2" charset="2"/>
              </a:rPr>
              <a:t>product_name</a:t>
            </a:r>
            <a:r>
              <a:rPr lang="en-US" dirty="0">
                <a:sym typeface="Wingdings" panose="05000000000000000000" pitchFamily="2" charset="2"/>
              </a:rPr>
              <a:t> depend on identifiers rather than the entire key.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120E7-4C23-4C14-D11F-E77BE367D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753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66E4C-1EEF-90C1-5A01-92C3A6C61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BEA1-AD17-EE1F-5CD6-AE49C6DE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Normalization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31B6E-DDDA-1C75-DEA2-6248E4F92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Convert to 2NF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Customer(</a:t>
            </a:r>
            <a:r>
              <a:rPr lang="en-US" dirty="0" err="1">
                <a:sym typeface="Wingdings" panose="05000000000000000000" pitchFamily="2" charset="2"/>
              </a:rPr>
              <a:t>customer_id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customer_name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Product( </a:t>
            </a:r>
            <a:r>
              <a:rPr lang="en-US" dirty="0" err="1">
                <a:sym typeface="Wingdings" panose="05000000000000000000" pitchFamily="2" charset="2"/>
              </a:rPr>
              <a:t>product_id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product_name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Order(</a:t>
            </a:r>
            <a:r>
              <a:rPr lang="en-US" dirty="0" err="1">
                <a:sym typeface="Wingdings" panose="05000000000000000000" pitchFamily="2" charset="2"/>
              </a:rPr>
              <a:t>order_id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product_id</a:t>
            </a:r>
            <a:r>
              <a:rPr lang="en-US" dirty="0">
                <a:sym typeface="Wingdings" panose="05000000000000000000" pitchFamily="2" charset="2"/>
              </a:rPr>
              <a:t>, quantity)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Each attribute now depends fully on the key of its relation.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E8948F-FAE0-FA8A-6D82-26346C6D7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65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BACF5-70FC-C553-619D-B32FC1F04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A11E6-EDE4-B181-B3F4-94E94FE0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Normalization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5B60D-BC74-FBA6-9054-9F075827C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Check for 3NF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No non-key attribute depends on another non-key attribute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Schema is already in 3NF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00CD3C-83C4-84CD-DF50-10333C246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44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D84A5-51E5-8D0E-6A05-6CCFB4C0D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F53A-514C-1EC9-D1B1-86E0CC27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51A3A-3675-0587-072A-A0FE248A7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Correct identification of candidate keys is essential for proper normalization</a:t>
            </a:r>
          </a:p>
          <a:p>
            <a:r>
              <a:rPr lang="en-US" dirty="0">
                <a:sym typeface="Wingdings" panose="05000000000000000000" pitchFamily="2" charset="2"/>
              </a:rPr>
              <a:t>Normalization improves consistency and reduces redundancy but may require additional join during queries</a:t>
            </a:r>
          </a:p>
          <a:p>
            <a:r>
              <a:rPr lang="en-US" dirty="0">
                <a:sym typeface="Wingdings" panose="05000000000000000000" pitchFamily="2" charset="2"/>
              </a:rPr>
              <a:t>Do not confuse between partial and transitive dependencies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39EF2D-F3EF-0BCF-CFEC-05347B64E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848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5995-51B9-A82F-43FC-3E23DE7A3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1ADD7-70AF-E51F-273B-A6AED78ED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</a:t>
            </a:r>
          </a:p>
          <a:p>
            <a:pPr marL="457200" lvl="1" indent="0">
              <a:buNone/>
            </a:pPr>
            <a:r>
              <a:rPr lang="en-US" dirty="0"/>
              <a:t>Registration(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student_name</a:t>
            </a:r>
            <a:r>
              <a:rPr lang="en-US" dirty="0"/>
              <a:t>, phone, address, major, </a:t>
            </a:r>
            <a:r>
              <a:rPr lang="en-US" dirty="0" err="1"/>
              <a:t>course_id</a:t>
            </a:r>
            <a:r>
              <a:rPr lang="en-US" dirty="0"/>
              <a:t>, </a:t>
            </a:r>
            <a:r>
              <a:rPr lang="en-US" dirty="0" err="1"/>
              <a:t>course_name</a:t>
            </a:r>
            <a:r>
              <a:rPr lang="en-US" dirty="0"/>
              <a:t>, instructor, </a:t>
            </a:r>
            <a:r>
              <a:rPr lang="en-US" dirty="0" err="1"/>
              <a:t>instructor_type</a:t>
            </a:r>
            <a:r>
              <a:rPr lang="en-US" dirty="0"/>
              <a:t>, grade, location, time, session)</a:t>
            </a:r>
          </a:p>
          <a:p>
            <a:pPr marL="457200" lvl="1" indent="0">
              <a:buNone/>
            </a:pPr>
            <a:r>
              <a:rPr lang="en-US" dirty="0"/>
              <a:t>Tasks:</a:t>
            </a:r>
          </a:p>
          <a:p>
            <a:pPr marL="457200" lvl="1" indent="0">
              <a:buNone/>
            </a:pPr>
            <a:r>
              <a:rPr lang="en-US" dirty="0"/>
              <a:t>	- Identify candidate keys</a:t>
            </a:r>
          </a:p>
          <a:p>
            <a:pPr marL="457200" lvl="1" indent="0">
              <a:buNone/>
            </a:pPr>
            <a:r>
              <a:rPr lang="en-US" dirty="0"/>
              <a:t>	- Identify dependencies</a:t>
            </a:r>
          </a:p>
          <a:p>
            <a:pPr marL="457200" lvl="1" indent="0">
              <a:buNone/>
            </a:pPr>
            <a:r>
              <a:rPr lang="en-US" dirty="0"/>
              <a:t>	- Convert to 2NF</a:t>
            </a:r>
          </a:p>
          <a:p>
            <a:pPr marL="457200" lvl="1" indent="0">
              <a:buNone/>
            </a:pPr>
            <a:r>
              <a:rPr lang="en-US" dirty="0"/>
              <a:t>	- Convert to 3NF</a:t>
            </a:r>
          </a:p>
        </p:txBody>
      </p:sp>
    </p:spTree>
    <p:extLst>
      <p:ext uri="{BB962C8B-B14F-4D97-AF65-F5344CB8AC3E}">
        <p14:creationId xmlns:p14="http://schemas.microsoft.com/office/powerpoint/2010/main" val="2707032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F4CB4-C714-E41D-916C-9E7559A9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Lucida Calligraphy" panose="03010101010101010101" pitchFamily="66" charset="0"/>
              </a:rPr>
              <a:t>finito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5B317C-BE80-FCB8-EB77-5E49DC21E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6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873</Words>
  <Application>Microsoft Office PowerPoint</Application>
  <PresentationFormat>Widescreen</PresentationFormat>
  <Paragraphs>116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Lucida Calligraphy</vt:lpstr>
      <vt:lpstr>Wingdings</vt:lpstr>
      <vt:lpstr>Office Theme</vt:lpstr>
      <vt:lpstr>CS3700 Intro to Database &amp; Modelling– Week 5 </vt:lpstr>
      <vt:lpstr>Normalization and Why we do it?</vt:lpstr>
      <vt:lpstr>Issues without Normalization</vt:lpstr>
      <vt:lpstr>Issues without Normalization</vt:lpstr>
      <vt:lpstr>Normalization Stages</vt:lpstr>
      <vt:lpstr>First Normal Form (1NF)</vt:lpstr>
      <vt:lpstr>Second Normal Form(2NF)</vt:lpstr>
      <vt:lpstr>Second Normal Form(2NF)</vt:lpstr>
      <vt:lpstr>Third Normal Form</vt:lpstr>
      <vt:lpstr>Third Normal Form</vt:lpstr>
      <vt:lpstr>Third Normal Form</vt:lpstr>
      <vt:lpstr>Full Normalization Walkthrough</vt:lpstr>
      <vt:lpstr>Full Normalization Walkthrough</vt:lpstr>
      <vt:lpstr>Full Normalization Walkthrough</vt:lpstr>
      <vt:lpstr>Takeaway notes</vt:lpstr>
      <vt:lpstr>In-Class Activity</vt:lpstr>
      <vt:lpstr>finito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Joshi, Bibek Raj</dc:creator>
  <cp:lastModifiedBy>Joshi, Bibek Raj</cp:lastModifiedBy>
  <cp:revision>23</cp:revision>
  <dcterms:created xsi:type="dcterms:W3CDTF">2026-01-14T05:30:02Z</dcterms:created>
  <dcterms:modified xsi:type="dcterms:W3CDTF">2026-09-21T15:33:30Z</dcterms:modified>
</cp:coreProperties>
</file>